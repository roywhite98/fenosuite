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e1cf142b4b4080" /><Relationship Type="http://schemas.openxmlformats.org/officeDocument/2006/relationships/extended-properties" Target="/docProps/app.xml" Id="R3fcc64a4873b45eb" /><Relationship Type="http://schemas.openxmlformats.org/officeDocument/2006/relationships/officeDocument" Target="/ppt/presentation.xml" Id="Raff42aa3184e4d2e" /></Relationships>
</file>

<file path=ppt/presentation.xml><?xml version="1.0" encoding="utf-8"?>
<p:presentation xmlns:p="http://schemas.openxmlformats.org/presentationml/2006/main">
  <p:sldMasterIdLst>
    <p:sldMasterId xmlns:r="http://schemas.openxmlformats.org/officeDocument/2006/relationships" id="2147483648" r:id="R687c7d80775e4acf"/>
  </p:sldMasterIdLst>
  <p:notesMasterIdLst>
    <p:notesMasterId xmlns:r="http://schemas.openxmlformats.org/officeDocument/2006/relationships" r:id="R5c9e58a745304d23"/>
  </p:notesMasterIdLst>
  <p:sldIdLst>
    <p:sldId xmlns:r="http://schemas.openxmlformats.org/officeDocument/2006/relationships" id="256" r:id="Rc1821eb6f802464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e5a5ffd24841af" /><Relationship Type="http://schemas.openxmlformats.org/officeDocument/2006/relationships/slideMaster" Target="/ppt/slideMasters/slideMaster1.xml" Id="R687c7d80775e4acf" /><Relationship Type="http://schemas.openxmlformats.org/officeDocument/2006/relationships/notesMaster" Target="/ppt/notesMasters/notesMaster1.xml" Id="R5c9e58a745304d23" /><Relationship Type="http://schemas.openxmlformats.org/officeDocument/2006/relationships/presProps" Target="/ppt/presProps.xml" Id="R799ac227c8e84ee8" /><Relationship Type="http://schemas.openxmlformats.org/officeDocument/2006/relationships/tableStyles" Target="/ppt/tableStyles.xml" Id="R8be7475cbd2a416c" /><Relationship Type="http://schemas.openxmlformats.org/officeDocument/2006/relationships/slide" Target="/ppt/slides/slide1.xml" Id="Rc1821eb6f80246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c3a2842d1f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f51afcbf1d4b25" /><Relationship Type="http://schemas.openxmlformats.org/officeDocument/2006/relationships/notesMaster" Target="/ppt/notesMasters/notesMaster1.xml" Id="R290141bc070d47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F:/Tools/260518plant_phe/docs/ARCHITECTURE.md; plant_phenotype/gui/main_window.py; app/plugin_api.py; app/plugins/*/{tab,tools}.py; training/facade.py; training/remote_client.py; server/app.py. GUI tabs may directly call facades; Tool tasks use QtTaskRunner. Diagram arrows from plugins summarize both paths. Flask only provides remote training. DataContext is desktop session memory. Remote jobs use their own temporary files. Client submits and polls; downloads are exposed by the server but are not automatic in run_remote_training().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0dc7ba19e44a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9e0fbd92e743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01898b42f747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02aa08132445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cf1db7dbfd48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301894629a49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B21F6-14D9-41E0-B2E9-11DBAEA2B7A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D9780A0-6AE9-45C6-A7D0-6FF9D1264D3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B765EF-8D84-4288-9136-E29754D4308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99ADC-AB10-4CE2-A706-F9DA1E66CA9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2F3418-5C44-4F36-A14D-7B3E8FDBF4A7}"/>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63A6BB-ABAF-4868-8B61-BC27C1E3061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C0E0CC-A60D-4EBC-96D1-B4BB9C4535F9}"/>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96C6CA-2433-49F8-A87B-DBEBEE11E11B}"/>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3C66E8-0FC6-4452-BD37-9C1C87420B4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9D9BD-105C-43EC-9319-061FE599F9F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ca13f8672a4502" /><Relationship Type="http://schemas.openxmlformats.org/officeDocument/2006/relationships/slideLayout" Target="/ppt/slideLayouts/slideLayout1.xml" Id="R5f0deb3c68b54f62" /><Relationship Type="http://schemas.openxmlformats.org/officeDocument/2006/relationships/slideLayout" Target="/ppt/slideLayouts/slideLayout2.xml" Id="R834df1b778094795" /><Relationship Type="http://schemas.openxmlformats.org/officeDocument/2006/relationships/slideLayout" Target="/ppt/slideLayouts/slideLayout3.xml" Id="R73cd115bde524e70" /><Relationship Type="http://schemas.openxmlformats.org/officeDocument/2006/relationships/slideLayout" Target="/ppt/slideLayouts/slideLayout4.xml" Id="Rcae3124c47cd4b7a" /><Relationship Type="http://schemas.openxmlformats.org/officeDocument/2006/relationships/slideLayout" Target="/ppt/slideLayouts/slideLayout5.xml" Id="R4ee373714abe429a" /><Relationship Type="http://schemas.openxmlformats.org/officeDocument/2006/relationships/slideLayout" Target="/ppt/slideLayouts/slideLayout6.xml" Id="R839bee3bdd3841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0deb3c68b54f62"/>
    <p:sldLayoutId xmlns:r="http://schemas.openxmlformats.org/officeDocument/2006/relationships" id="2147483650" r:id="R834df1b778094795"/>
    <p:sldLayoutId xmlns:r="http://schemas.openxmlformats.org/officeDocument/2006/relationships" id="2147483651" r:id="R73cd115bde524e70"/>
    <p:sldLayoutId xmlns:r="http://schemas.openxmlformats.org/officeDocument/2006/relationships" id="2147483652" r:id="Rcae3124c47cd4b7a"/>
    <p:sldLayoutId xmlns:r="http://schemas.openxmlformats.org/officeDocument/2006/relationships" id="2147483653" r:id="R4ee373714abe429a"/>
    <p:sldLayoutId xmlns:r="http://schemas.openxmlformats.org/officeDocument/2006/relationships" id="2147483654" r:id="R839bee3bdd3841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bbe378fec24d92" /><Relationship Type="http://schemas.openxmlformats.org/officeDocument/2006/relationships/notesSlide" Target="/ppt/notesSlides/notesSlide1.xml" Id="R2ead5380bcf14f6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slide-title">
            <a:extLst xmlns:a="http://schemas.openxmlformats.org/drawingml/2006/main">
              <a:ext uri="{FF2B5EF4-FFF2-40B4-BE49-F238E27FC236}">
                <a16:creationId xmlns:a16="http://schemas.microsoft.com/office/drawing/2014/main" id="{6836582B-70E3-4A63-B6AC-7D6DE8BEC861}"/>
              </a:ext>
            </a:extLst>
          </p:cNvPr>
          <p:cNvSpPr>
            <a:spLocks xmlns:a="http://schemas.openxmlformats.org/drawingml/2006/main" noGrp="1"/>
          </p:cNvSpPr>
          <p:nvPr/>
        </p:nvSpPr>
        <p:spPr>
          <a:xfrm xmlns:a="http://schemas.openxmlformats.org/drawingml/2006/main">
            <a:off x="304800" y="190500"/>
            <a:ext cx="14630400" cy="476250"/>
          </a:xfrm>
          <a:prstGeom xmlns:a="http://schemas.openxmlformats.org/drawingml/2006/main" prst="roundRect">
            <a:avLst>
              <a:gd name="adj" fmla="val 14000"/>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2850" b="1">
                <a:solidFill>
                  <a:srgbClr val="132641"/>
                </a:solidFill>
                <a:latin typeface="Arial"/>
                <a:ea typeface="Arial"/>
                <a:cs typeface="Arial"/>
              </a:defRPr>
            </a:defPPr>
            <a:lvl1pPr algn="ctr">
              <a:defRPr sz="2850" b="1">
                <a:solidFill>
                  <a:srgbClr val="132641"/>
                </a:solidFill>
                <a:latin typeface="Arial"/>
                <a:ea typeface="Arial"/>
                <a:cs typeface="Arial"/>
              </a:defRPr>
            </a:lvl1pPr>
            <a:lvl2pPr algn="ctr">
              <a:defRPr sz="2850" b="1">
                <a:solidFill>
                  <a:srgbClr val="132641"/>
                </a:solidFill>
                <a:latin typeface="Arial"/>
                <a:ea typeface="Arial"/>
                <a:cs typeface="Arial"/>
              </a:defRPr>
            </a:lvl2pPr>
            <a:lvl3pPr algn="ctr">
              <a:defRPr sz="2850" b="1">
                <a:solidFill>
                  <a:srgbClr val="132641"/>
                </a:solidFill>
                <a:latin typeface="Arial"/>
                <a:ea typeface="Arial"/>
                <a:cs typeface="Arial"/>
              </a:defRPr>
            </a:lvl3pPr>
            <a:lvl4pPr algn="ctr">
              <a:defRPr sz="2850" b="1">
                <a:solidFill>
                  <a:srgbClr val="132641"/>
                </a:solidFill>
                <a:latin typeface="Arial"/>
                <a:ea typeface="Arial"/>
                <a:cs typeface="Arial"/>
              </a:defRPr>
            </a:lvl4pPr>
            <a:lvl5pPr algn="ctr">
              <a:defRPr sz="2850" b="1">
                <a:solidFill>
                  <a:srgbClr val="132641"/>
                </a:solidFill>
                <a:latin typeface="Arial"/>
                <a:ea typeface="Arial"/>
                <a:cs typeface="Arial"/>
              </a:defRPr>
            </a:lvl5pPr>
            <a:lvl6pPr algn="ctr">
              <a:defRPr sz="2850" b="1">
                <a:solidFill>
                  <a:srgbClr val="132641"/>
                </a:solidFill>
                <a:latin typeface="Arial"/>
                <a:ea typeface="Arial"/>
                <a:cs typeface="Arial"/>
              </a:defRPr>
            </a:lvl6pPr>
            <a:lvl7pPr algn="ctr">
              <a:defRPr sz="2850" b="1">
                <a:solidFill>
                  <a:srgbClr val="132641"/>
                </a:solidFill>
                <a:latin typeface="Arial"/>
                <a:ea typeface="Arial"/>
                <a:cs typeface="Arial"/>
              </a:defRPr>
            </a:lvl7pPr>
            <a:lvl8pPr algn="ctr">
              <a:defRPr sz="2850" b="1">
                <a:solidFill>
                  <a:srgbClr val="132641"/>
                </a:solidFill>
                <a:latin typeface="Arial"/>
                <a:ea typeface="Arial"/>
                <a:cs typeface="Arial"/>
              </a:defRPr>
            </a:lvl8pPr>
            <a:lvl9pPr algn="ctr">
              <a:defRPr sz="2850" b="1">
                <a:solidFill>
                  <a:srgbClr val="132641"/>
                </a:solidFill>
                <a:latin typeface="Arial"/>
                <a:ea typeface="Arial"/>
                <a:cs typeface="Arial"/>
              </a:defRPr>
            </a:lvl9pPr>
          </a:lstStyle>
          <a:p xmlns:a="http://schemas.openxmlformats.org/drawingml/2006/main">
            <a:pPr algn="ctr">
              <a:defRPr sz="2850" b="1">
                <a:solidFill>
                  <a:srgbClr val="132641"/>
                </a:solidFill>
                <a:latin typeface="Arial"/>
                <a:ea typeface="Arial"/>
                <a:cs typeface="Arial"/>
              </a:defRPr>
            </a:pPr>
            <a:r>
              <a:rPr sz="2850" b="1">
                <a:solidFill>
                  <a:srgbClr val="132641"/>
                </a:solidFill>
                <a:latin typeface="Arial"/>
                <a:ea typeface="Arial"/>
                <a:cs typeface="Arial"/>
              </a:rPr>
              <a:t>FenoSuite Software Architecture</a:t>
            </a:r>
          </a:p>
        </p:txBody>
      </p:sp>
      <p:sp>
        <p:nvSpPr>
          <p:cNvPr id="2" name="desktop-process">
            <a:extLst xmlns:a="http://schemas.openxmlformats.org/drawingml/2006/main">
              <a:ext uri="{FF2B5EF4-FFF2-40B4-BE49-F238E27FC236}">
                <a16:creationId xmlns:a16="http://schemas.microsoft.com/office/drawing/2014/main" id="{C0F530BC-90CE-4447-A885-D9DC8E10BF18}"/>
              </a:ext>
            </a:extLst>
          </p:cNvPr>
          <p:cNvSpPr>
            <a:spLocks xmlns:a="http://schemas.openxmlformats.org/drawingml/2006/main" noGrp="1"/>
          </p:cNvSpPr>
          <p:nvPr/>
        </p:nvSpPr>
        <p:spPr>
          <a:xfrm xmlns:a="http://schemas.openxmlformats.org/drawingml/2006/main">
            <a:off x="247650" y="847725"/>
            <a:ext cx="10982325" cy="7477125"/>
          </a:xfrm>
          <a:prstGeom xmlns:a="http://schemas.openxmlformats.org/drawingml/2006/main" prst="roundRect">
            <a:avLst>
              <a:gd name="adj" fmla="val 892"/>
            </a:avLst>
          </a:prstGeom>
          <a:solidFill xmlns:a="http://schemas.openxmlformats.org/drawingml/2006/main">
            <a:srgbClr val="FAFCFF"/>
          </a:solidFill>
          <a:ln xmlns:a="http://schemas.openxmlformats.org/drawingml/2006/main" w="13335">
            <a:solidFill>
              <a:srgbClr val="C7D0DC"/>
            </a:solidFill>
          </a:ln>
        </p:spPr>
      </p:sp>
      <p:sp>
        <p:nvSpPr>
          <p:cNvPr id="3" name="remote-process">
            <a:extLst xmlns:a="http://schemas.openxmlformats.org/drawingml/2006/main">
              <a:ext uri="{FF2B5EF4-FFF2-40B4-BE49-F238E27FC236}">
                <a16:creationId xmlns:a16="http://schemas.microsoft.com/office/drawing/2014/main" id="{A057D028-DA46-49A0-B47C-C68AD85E2F47}"/>
              </a:ext>
            </a:extLst>
          </p:cNvPr>
          <p:cNvSpPr>
            <a:spLocks xmlns:a="http://schemas.openxmlformats.org/drawingml/2006/main" noGrp="1"/>
          </p:cNvSpPr>
          <p:nvPr/>
        </p:nvSpPr>
        <p:spPr>
          <a:xfrm xmlns:a="http://schemas.openxmlformats.org/drawingml/2006/main">
            <a:off x="11925300" y="847725"/>
            <a:ext cx="3067050" cy="7477125"/>
          </a:xfrm>
          <a:prstGeom xmlns:a="http://schemas.openxmlformats.org/drawingml/2006/main" prst="roundRect">
            <a:avLst>
              <a:gd name="adj" fmla="val 2174"/>
            </a:avLst>
          </a:prstGeom>
          <a:solidFill xmlns:a="http://schemas.openxmlformats.org/drawingml/2006/main">
            <a:srgbClr val="FCF8FE"/>
          </a:solidFill>
          <a:ln xmlns:a="http://schemas.openxmlformats.org/drawingml/2006/main" w="13335">
            <a:solidFill>
              <a:srgbClr val="A875BE"/>
            </a:solidFill>
          </a:ln>
        </p:spPr>
      </p:sp>
      <p:sp>
        <p:nvSpPr>
          <p:cNvPr id="4" name="desktop-heading">
            <a:extLst xmlns:a="http://schemas.openxmlformats.org/drawingml/2006/main">
              <a:ext uri="{FF2B5EF4-FFF2-40B4-BE49-F238E27FC236}">
                <a16:creationId xmlns:a16="http://schemas.microsoft.com/office/drawing/2014/main" id="{AAE48E05-3017-4D01-838B-DCB7232F01DF}"/>
              </a:ext>
            </a:extLst>
          </p:cNvPr>
          <p:cNvSpPr>
            <a:spLocks xmlns:a="http://schemas.openxmlformats.org/drawingml/2006/main" noGrp="1"/>
          </p:cNvSpPr>
          <p:nvPr/>
        </p:nvSpPr>
        <p:spPr>
          <a:xfrm xmlns:a="http://schemas.openxmlformats.org/drawingml/2006/main">
            <a:off x="438150" y="914400"/>
            <a:ext cx="10420350" cy="361950"/>
          </a:xfrm>
          <a:prstGeom xmlns:a="http://schemas.openxmlformats.org/drawingml/2006/main" prst="roundRect">
            <a:avLst>
              <a:gd name="adj" fmla="val 18421"/>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l">
              <a:defRPr sz="1950" b="1">
                <a:solidFill>
                  <a:srgbClr val="132641"/>
                </a:solidFill>
                <a:latin typeface="Arial"/>
                <a:ea typeface="Arial"/>
                <a:cs typeface="Arial"/>
              </a:defRPr>
            </a:defPPr>
            <a:lvl1pPr algn="l">
              <a:defRPr sz="1950" b="1">
                <a:solidFill>
                  <a:srgbClr val="132641"/>
                </a:solidFill>
                <a:latin typeface="Arial"/>
                <a:ea typeface="Arial"/>
                <a:cs typeface="Arial"/>
              </a:defRPr>
            </a:lvl1pPr>
            <a:lvl2pPr algn="l">
              <a:defRPr sz="1950" b="1">
                <a:solidFill>
                  <a:srgbClr val="132641"/>
                </a:solidFill>
                <a:latin typeface="Arial"/>
                <a:ea typeface="Arial"/>
                <a:cs typeface="Arial"/>
              </a:defRPr>
            </a:lvl2pPr>
            <a:lvl3pPr algn="l">
              <a:defRPr sz="1950" b="1">
                <a:solidFill>
                  <a:srgbClr val="132641"/>
                </a:solidFill>
                <a:latin typeface="Arial"/>
                <a:ea typeface="Arial"/>
                <a:cs typeface="Arial"/>
              </a:defRPr>
            </a:lvl3pPr>
            <a:lvl4pPr algn="l">
              <a:defRPr sz="1950" b="1">
                <a:solidFill>
                  <a:srgbClr val="132641"/>
                </a:solidFill>
                <a:latin typeface="Arial"/>
                <a:ea typeface="Arial"/>
                <a:cs typeface="Arial"/>
              </a:defRPr>
            </a:lvl4pPr>
            <a:lvl5pPr algn="l">
              <a:defRPr sz="1950" b="1">
                <a:solidFill>
                  <a:srgbClr val="132641"/>
                </a:solidFill>
                <a:latin typeface="Arial"/>
                <a:ea typeface="Arial"/>
                <a:cs typeface="Arial"/>
              </a:defRPr>
            </a:lvl5pPr>
            <a:lvl6pPr algn="l">
              <a:defRPr sz="1950" b="1">
                <a:solidFill>
                  <a:srgbClr val="132641"/>
                </a:solidFill>
                <a:latin typeface="Arial"/>
                <a:ea typeface="Arial"/>
                <a:cs typeface="Arial"/>
              </a:defRPr>
            </a:lvl6pPr>
            <a:lvl7pPr algn="l">
              <a:defRPr sz="1950" b="1">
                <a:solidFill>
                  <a:srgbClr val="132641"/>
                </a:solidFill>
                <a:latin typeface="Arial"/>
                <a:ea typeface="Arial"/>
                <a:cs typeface="Arial"/>
              </a:defRPr>
            </a:lvl7pPr>
            <a:lvl8pPr algn="l">
              <a:defRPr sz="1950" b="1">
                <a:solidFill>
                  <a:srgbClr val="132641"/>
                </a:solidFill>
                <a:latin typeface="Arial"/>
                <a:ea typeface="Arial"/>
                <a:cs typeface="Arial"/>
              </a:defRPr>
            </a:lvl8pPr>
            <a:lvl9pPr algn="l">
              <a:defRPr sz="1950" b="1">
                <a:solidFill>
                  <a:srgbClr val="132641"/>
                </a:solidFill>
                <a:latin typeface="Arial"/>
                <a:ea typeface="Arial"/>
                <a:cs typeface="Arial"/>
              </a:defRPr>
            </a:lvl9pPr>
          </a:lstStyle>
          <a:p xmlns:a="http://schemas.openxmlformats.org/drawingml/2006/main">
            <a:pPr algn="l">
              <a:defRPr sz="1950" b="1">
                <a:solidFill>
                  <a:srgbClr val="132641"/>
                </a:solidFill>
                <a:latin typeface="Arial"/>
                <a:ea typeface="Arial"/>
                <a:cs typeface="Arial"/>
              </a:defRPr>
            </a:pPr>
            <a:r>
              <a:rPr sz="1950" b="1">
                <a:solidFill>
                  <a:srgbClr val="132641"/>
                </a:solidFill>
                <a:latin typeface="Arial"/>
                <a:ea typeface="Arial"/>
                <a:cs typeface="Arial"/>
              </a:rPr>
              <a:t>Desktop process: run.py</a:t>
            </a:r>
          </a:p>
        </p:txBody>
      </p:sp>
      <p:sp>
        <p:nvSpPr>
          <p:cNvPr id="5" name="remote-heading">
            <a:extLst xmlns:a="http://schemas.openxmlformats.org/drawingml/2006/main">
              <a:ext uri="{FF2B5EF4-FFF2-40B4-BE49-F238E27FC236}">
                <a16:creationId xmlns:a16="http://schemas.microsoft.com/office/drawing/2014/main" id="{ECE08C3E-0E0B-4D7F-86BE-83C0A571D56A}"/>
              </a:ext>
            </a:extLst>
          </p:cNvPr>
          <p:cNvSpPr>
            <a:spLocks xmlns:a="http://schemas.openxmlformats.org/drawingml/2006/main" noGrp="1"/>
          </p:cNvSpPr>
          <p:nvPr/>
        </p:nvSpPr>
        <p:spPr>
          <a:xfrm xmlns:a="http://schemas.openxmlformats.org/drawingml/2006/main">
            <a:off x="12001500" y="942975"/>
            <a:ext cx="2914650" cy="333375"/>
          </a:xfrm>
          <a:prstGeom xmlns:a="http://schemas.openxmlformats.org/drawingml/2006/main" prst="roundRect">
            <a:avLst>
              <a:gd name="adj" fmla="val 20000"/>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Optional remote training</a:t>
            </a:r>
          </a:p>
        </p:txBody>
      </p:sp>
      <p:sp>
        <p:nvSpPr>
          <p:cNvPr id="6" name="main-window">
            <a:extLst xmlns:a="http://schemas.openxmlformats.org/drawingml/2006/main">
              <a:ext uri="{FF2B5EF4-FFF2-40B4-BE49-F238E27FC236}">
                <a16:creationId xmlns:a16="http://schemas.microsoft.com/office/drawing/2014/main" id="{1D1FB412-C385-49B8-809E-A500CE716874}"/>
              </a:ext>
            </a:extLst>
          </p:cNvPr>
          <p:cNvSpPr>
            <a:spLocks xmlns:a="http://schemas.openxmlformats.org/drawingml/2006/main" noGrp="1"/>
          </p:cNvSpPr>
          <p:nvPr/>
        </p:nvSpPr>
        <p:spPr>
          <a:xfrm xmlns:a="http://schemas.openxmlformats.org/drawingml/2006/main">
            <a:off x="457200" y="1409700"/>
            <a:ext cx="10553700" cy="571500"/>
          </a:xfrm>
          <a:prstGeom xmlns:a="http://schemas.openxmlformats.org/drawingml/2006/main" prst="roundRect">
            <a:avLst>
              <a:gd name="adj" fmla="val 11667"/>
            </a:avLst>
          </a:prstGeom>
          <a:solidFill xmlns:a="http://schemas.openxmlformats.org/drawingml/2006/main">
            <a:srgbClr val="DEF1D6"/>
          </a:solidFill>
          <a:ln xmlns:a="http://schemas.openxmlformats.org/drawingml/2006/main" w="13335">
            <a:solidFill>
              <a:srgbClr val="709B61"/>
            </a:solidFill>
          </a:ln>
        </p:spPr>
        <p:txBody>
          <a:bodyPr xmlns:a="http://schemas.openxmlformats.org/drawingml/2006/main" wrap="none" lIns="66675" tIns="66675" rIns="66675" bIns="66675" anchor="ctr">
            <a:noAutofit/>
          </a:bodyPr>
          <a:lstStyle xmlns:a="http://schemas.openxmlformats.org/drawingml/2006/main">
            <a:defPPr algn="ctr">
              <a:defRPr sz="1875" b="1">
                <a:solidFill>
                  <a:srgbClr val="132641"/>
                </a:solidFill>
                <a:latin typeface="Arial"/>
                <a:ea typeface="Arial"/>
                <a:cs typeface="Arial"/>
              </a:defRPr>
            </a:defPPr>
            <a:lvl1pPr algn="ctr">
              <a:defRPr sz="1875" b="1">
                <a:solidFill>
                  <a:srgbClr val="132641"/>
                </a:solidFill>
                <a:latin typeface="Arial"/>
                <a:ea typeface="Arial"/>
                <a:cs typeface="Arial"/>
              </a:defRPr>
            </a:lvl1pPr>
            <a:lvl2pPr algn="ctr">
              <a:defRPr sz="1875" b="1">
                <a:solidFill>
                  <a:srgbClr val="132641"/>
                </a:solidFill>
                <a:latin typeface="Arial"/>
                <a:ea typeface="Arial"/>
                <a:cs typeface="Arial"/>
              </a:defRPr>
            </a:lvl2pPr>
            <a:lvl3pPr algn="ctr">
              <a:defRPr sz="1875" b="1">
                <a:solidFill>
                  <a:srgbClr val="132641"/>
                </a:solidFill>
                <a:latin typeface="Arial"/>
                <a:ea typeface="Arial"/>
                <a:cs typeface="Arial"/>
              </a:defRPr>
            </a:lvl3pPr>
            <a:lvl4pPr algn="ctr">
              <a:defRPr sz="1875" b="1">
                <a:solidFill>
                  <a:srgbClr val="132641"/>
                </a:solidFill>
                <a:latin typeface="Arial"/>
                <a:ea typeface="Arial"/>
                <a:cs typeface="Arial"/>
              </a:defRPr>
            </a:lvl4pPr>
            <a:lvl5pPr algn="ctr">
              <a:defRPr sz="1875" b="1">
                <a:solidFill>
                  <a:srgbClr val="132641"/>
                </a:solidFill>
                <a:latin typeface="Arial"/>
                <a:ea typeface="Arial"/>
                <a:cs typeface="Arial"/>
              </a:defRPr>
            </a:lvl5pPr>
            <a:lvl6pPr algn="ctr">
              <a:defRPr sz="1875" b="1">
                <a:solidFill>
                  <a:srgbClr val="132641"/>
                </a:solidFill>
                <a:latin typeface="Arial"/>
                <a:ea typeface="Arial"/>
                <a:cs typeface="Arial"/>
              </a:defRPr>
            </a:lvl6pPr>
            <a:lvl7pPr algn="ctr">
              <a:defRPr sz="1875" b="1">
                <a:solidFill>
                  <a:srgbClr val="132641"/>
                </a:solidFill>
                <a:latin typeface="Arial"/>
                <a:ea typeface="Arial"/>
                <a:cs typeface="Arial"/>
              </a:defRPr>
            </a:lvl7pPr>
            <a:lvl8pPr algn="ctr">
              <a:defRPr sz="1875" b="1">
                <a:solidFill>
                  <a:srgbClr val="132641"/>
                </a:solidFill>
                <a:latin typeface="Arial"/>
                <a:ea typeface="Arial"/>
                <a:cs typeface="Arial"/>
              </a:defRPr>
            </a:lvl8pPr>
            <a:lvl9pPr algn="ctr">
              <a:defRPr sz="1875" b="1">
                <a:solidFill>
                  <a:srgbClr val="132641"/>
                </a:solidFill>
                <a:latin typeface="Arial"/>
                <a:ea typeface="Arial"/>
                <a:cs typeface="Arial"/>
              </a:defRPr>
            </a:lvl9pPr>
          </a:lstStyle>
          <a:p xmlns:a="http://schemas.openxmlformats.org/drawingml/2006/main">
            <a:pPr algn="ctr">
              <a:defRPr sz="1875" b="1">
                <a:solidFill>
                  <a:srgbClr val="132641"/>
                </a:solidFill>
                <a:latin typeface="Arial"/>
                <a:ea typeface="Arial"/>
                <a:cs typeface="Arial"/>
              </a:defRPr>
            </a:pPr>
            <a:r>
              <a:rPr sz="1875" b="1">
                <a:solidFill>
                  <a:srgbClr val="132641"/>
                </a:solidFill>
                <a:latin typeface="Arial"/>
                <a:ea typeface="Arial"/>
                <a:cs typeface="Arial"/>
              </a:rPr>
              <a:t>PyQt6 GUI / MainWindow</a:t>
            </a:r>
          </a:p>
        </p:txBody>
      </p:sp>
      <p:sp>
        <p:nvSpPr>
          <p:cNvPr id="7" name="platform">
            <a:extLst xmlns:a="http://schemas.openxmlformats.org/drawingml/2006/main">
              <a:ext uri="{FF2B5EF4-FFF2-40B4-BE49-F238E27FC236}">
                <a16:creationId xmlns:a16="http://schemas.microsoft.com/office/drawing/2014/main" id="{697BCECD-FFE9-4DEF-8DC7-4F4EF5739060}"/>
              </a:ext>
            </a:extLst>
          </p:cNvPr>
          <p:cNvSpPr>
            <a:spLocks xmlns:a="http://schemas.openxmlformats.org/drawingml/2006/main" noGrp="1"/>
          </p:cNvSpPr>
          <p:nvPr/>
        </p:nvSpPr>
        <p:spPr>
          <a:xfrm xmlns:a="http://schemas.openxmlformats.org/drawingml/2006/main">
            <a:off x="457200" y="2247900"/>
            <a:ext cx="10553700" cy="914400"/>
          </a:xfrm>
          <a:prstGeom xmlns:a="http://schemas.openxmlformats.org/drawingml/2006/main" prst="roundRect">
            <a:avLst>
              <a:gd name="adj" fmla="val 7292"/>
            </a:avLst>
          </a:prstGeom>
          <a:solidFill xmlns:a="http://schemas.openxmlformats.org/drawingml/2006/main">
            <a:srgbClr val="DEF1D6"/>
          </a:solidFill>
          <a:ln xmlns:a="http://schemas.openxmlformats.org/drawingml/2006/main" w="13335">
            <a:solidFill>
              <a:srgbClr val="709B61"/>
            </a:solidFill>
          </a:ln>
        </p:spPr>
        <p:txBody>
          <a:bodyPr xmlns:a="http://schemas.openxmlformats.org/drawingml/2006/main" wrap="none" lIns="66675" tIns="66675" rIns="66675" bIns="66675" anchor="ctr">
            <a:noAutofit/>
          </a:bodyPr>
          <a:lstStyle xmlns:a="http://schemas.openxmlformats.org/drawingml/2006/main">
            <a:defPPr algn="ctr">
              <a:defRPr sz="1725" b="0">
                <a:solidFill>
                  <a:srgbClr val="132641"/>
                </a:solidFill>
                <a:latin typeface="Arial"/>
                <a:ea typeface="Arial"/>
                <a:cs typeface="Arial"/>
              </a:defRPr>
            </a:defPPr>
            <a:lvl1pPr algn="ctr">
              <a:defRPr sz="1725" b="0">
                <a:solidFill>
                  <a:srgbClr val="132641"/>
                </a:solidFill>
                <a:latin typeface="Arial"/>
                <a:ea typeface="Arial"/>
                <a:cs typeface="Arial"/>
              </a:defRPr>
            </a:lvl1pPr>
            <a:lvl2pPr algn="ctr">
              <a:defRPr sz="1725" b="0">
                <a:solidFill>
                  <a:srgbClr val="132641"/>
                </a:solidFill>
                <a:latin typeface="Arial"/>
                <a:ea typeface="Arial"/>
                <a:cs typeface="Arial"/>
              </a:defRPr>
            </a:lvl2pPr>
            <a:lvl3pPr algn="ctr">
              <a:defRPr sz="1725" b="0">
                <a:solidFill>
                  <a:srgbClr val="132641"/>
                </a:solidFill>
                <a:latin typeface="Arial"/>
                <a:ea typeface="Arial"/>
                <a:cs typeface="Arial"/>
              </a:defRPr>
            </a:lvl3pPr>
            <a:lvl4pPr algn="ctr">
              <a:defRPr sz="1725" b="0">
                <a:solidFill>
                  <a:srgbClr val="132641"/>
                </a:solidFill>
                <a:latin typeface="Arial"/>
                <a:ea typeface="Arial"/>
                <a:cs typeface="Arial"/>
              </a:defRPr>
            </a:lvl4pPr>
            <a:lvl5pPr algn="ctr">
              <a:defRPr sz="1725" b="0">
                <a:solidFill>
                  <a:srgbClr val="132641"/>
                </a:solidFill>
                <a:latin typeface="Arial"/>
                <a:ea typeface="Arial"/>
                <a:cs typeface="Arial"/>
              </a:defRPr>
            </a:lvl5pPr>
            <a:lvl6pPr algn="ctr">
              <a:defRPr sz="1725" b="0">
                <a:solidFill>
                  <a:srgbClr val="132641"/>
                </a:solidFill>
                <a:latin typeface="Arial"/>
                <a:ea typeface="Arial"/>
                <a:cs typeface="Arial"/>
              </a:defRPr>
            </a:lvl6pPr>
            <a:lvl7pPr algn="ctr">
              <a:defRPr sz="1725" b="0">
                <a:solidFill>
                  <a:srgbClr val="132641"/>
                </a:solidFill>
                <a:latin typeface="Arial"/>
                <a:ea typeface="Arial"/>
                <a:cs typeface="Arial"/>
              </a:defRPr>
            </a:lvl7pPr>
            <a:lvl8pPr algn="ctr">
              <a:defRPr sz="1725" b="0">
                <a:solidFill>
                  <a:srgbClr val="132641"/>
                </a:solidFill>
                <a:latin typeface="Arial"/>
                <a:ea typeface="Arial"/>
                <a:cs typeface="Arial"/>
              </a:defRPr>
            </a:lvl8pPr>
            <a:lvl9pPr algn="ctr">
              <a:defRPr sz="1725" b="0">
                <a:solidFill>
                  <a:srgbClr val="132641"/>
                </a:solidFill>
                <a:latin typeface="Arial"/>
                <a:ea typeface="Arial"/>
                <a:cs typeface="Arial"/>
              </a:defRPr>
            </a:lvl9pPr>
          </a:lstStyle>
          <a:p xmlns:a="http://schemas.openxmlformats.org/drawingml/2006/main">
            <a:pPr algn="ctr">
              <a:defRPr sz="1725" b="0">
                <a:solidFill>
                  <a:srgbClr val="132641"/>
                </a:solidFill>
                <a:latin typeface="Arial"/>
                <a:ea typeface="Arial"/>
                <a:cs typeface="Arial"/>
              </a:defRPr>
            </a:pPr>
            <a:r>
              <a:rPr sz="1725" b="0">
                <a:solidFill>
                  <a:srgbClr val="132641"/>
                </a:solidFill>
                <a:latin typeface="Arial"/>
                <a:ea typeface="Arial"/>
                <a:cs typeface="Arial"/>
              </a:rPr>
              <a:t>PlatformApp</a:t>
            </a:r>
          </a:p>
          <a:p xmlns:a="http://schemas.openxmlformats.org/drawingml/2006/main">
            <a:pPr algn="ctr">
              <a:defRPr sz="1725" b="0">
                <a:solidFill>
                  <a:srgbClr val="132641"/>
                </a:solidFill>
                <a:latin typeface="Arial"/>
                <a:ea typeface="Arial"/>
                <a:cs typeface="Arial"/>
              </a:defRPr>
            </a:pPr>
            <a:r>
              <a:rPr sz="1725" b="0">
                <a:solidFill>
                  <a:srgbClr val="132641"/>
                </a:solidFill>
                <a:latin typeface="Arial"/>
                <a:ea typeface="Arial"/>
                <a:cs typeface="Arial"/>
              </a:rPr>
              <a:t>Plugin loader, Tool registry, Tabs, Viewers</a:t>
            </a:r>
          </a:p>
          <a:p xmlns:a="http://schemas.openxmlformats.org/drawingml/2006/main">
            <a:pPr algn="ctr">
              <a:defRPr sz="1725" b="0">
                <a:solidFill>
                  <a:srgbClr val="132641"/>
                </a:solidFill>
                <a:latin typeface="Arial"/>
                <a:ea typeface="Arial"/>
                <a:cs typeface="Arial"/>
              </a:defRPr>
            </a:pPr>
            <a:r>
              <a:rPr sz="1725" b="0">
                <a:solidFill>
                  <a:srgbClr val="132641"/>
                </a:solidFill>
                <a:latin typeface="Arial"/>
                <a:ea typeface="Arial"/>
                <a:cs typeface="Arial"/>
              </a:rPr>
              <a:t>QtTaskRunner, DataContext (in memory)</a:t>
            </a:r>
          </a:p>
        </p:txBody>
      </p:sp>
      <p:sp>
        <p:nvSpPr>
          <p:cNvPr id="8" name="plugins">
            <a:extLst xmlns:a="http://schemas.openxmlformats.org/drawingml/2006/main">
              <a:ext uri="{FF2B5EF4-FFF2-40B4-BE49-F238E27FC236}">
                <a16:creationId xmlns:a16="http://schemas.microsoft.com/office/drawing/2014/main" id="{6366CBAB-E701-4AC2-B403-B47B116EA833}"/>
              </a:ext>
            </a:extLst>
          </p:cNvPr>
          <p:cNvSpPr>
            <a:spLocks xmlns:a="http://schemas.openxmlformats.org/drawingml/2006/main" noGrp="1"/>
          </p:cNvSpPr>
          <p:nvPr/>
        </p:nvSpPr>
        <p:spPr>
          <a:xfrm xmlns:a="http://schemas.openxmlformats.org/drawingml/2006/main">
            <a:off x="457200" y="3438525"/>
            <a:ext cx="10553700" cy="495300"/>
          </a:xfrm>
          <a:prstGeom xmlns:a="http://schemas.openxmlformats.org/drawingml/2006/main" prst="roundRect">
            <a:avLst>
              <a:gd name="adj" fmla="val 13462"/>
            </a:avLst>
          </a:prstGeom>
          <a:solidFill xmlns:a="http://schemas.openxmlformats.org/drawingml/2006/main">
            <a:srgbClr val="E6F1FC"/>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Four built-in plugins: Tabs + Tools</a:t>
            </a:r>
          </a:p>
        </p:txBody>
      </p:sp>
      <p:cxnSp>
        <p:nvCxnSpPr>
          <p:cNvPr id="9" name="">
            <a:extLst xmlns:a="http://schemas.openxmlformats.org/drawingml/2006/main">
              <a:ext uri="{FF2B5EF4-FFF2-40B4-BE49-F238E27FC236}">
                <a16:creationId xmlns:a16="http://schemas.microsoft.com/office/drawing/2014/main" id="{E131A280-3A3D-4DCF-99F5-B81E63E8033F}"/>
              </a:ext>
            </a:extLst>
          </p:cNvPr>
          <p:cNvCxnSpPr>
            <a:stCxn xmlns:a="http://schemas.openxmlformats.org/drawingml/2006/main" id="6" idx="2"/>
            <a:endCxn xmlns:a="http://schemas.openxmlformats.org/drawingml/2006/main" id="7" idx="0"/>
          </p:cNvCxnSpPr>
          <p:nvPr/>
        </p:nvCxnSpPr>
        <p:spPr>
          <a:xfrm xmlns:a="http://schemas.openxmlformats.org/drawingml/2006/main">
            <a:off x="5734050" y="1981200"/>
            <a:ext cx="0" cy="266700"/>
          </a:xfrm>
          <a:prstGeom xmlns:a="http://schemas.openxmlformats.org/drawingml/2006/main" prst="straightConnector1">
            <a:avLst/>
          </a:prstGeom>
          <a:ln xmlns:a="http://schemas.openxmlformats.org/drawingml/2006/main" w="17145">
            <a:solidFill>
              <a:srgbClr val="132641"/>
            </a:solidFill>
            <a:tailEnd type="triangle" w="sm" len="sm"/>
          </a:ln>
        </p:spPr>
      </p:cxnSp>
      <p:cxnSp>
        <p:nvCxnSpPr>
          <p:cNvPr id="10" name="">
            <a:extLst xmlns:a="http://schemas.openxmlformats.org/drawingml/2006/main">
              <a:ext uri="{FF2B5EF4-FFF2-40B4-BE49-F238E27FC236}">
                <a16:creationId xmlns:a16="http://schemas.microsoft.com/office/drawing/2014/main" id="{A96B9EEF-9E27-4DF2-8C5D-13CF2E497779}"/>
              </a:ext>
            </a:extLst>
          </p:cNvPr>
          <p:cNvCxnSpPr>
            <a:stCxn xmlns:a="http://schemas.openxmlformats.org/drawingml/2006/main" id="7" idx="2"/>
            <a:endCxn xmlns:a="http://schemas.openxmlformats.org/drawingml/2006/main" id="8" idx="0"/>
          </p:cNvCxnSpPr>
          <p:nvPr/>
        </p:nvCxnSpPr>
        <p:spPr>
          <a:xfrm xmlns:a="http://schemas.openxmlformats.org/drawingml/2006/main">
            <a:off x="5734050" y="3162300"/>
            <a:ext cx="0" cy="276225"/>
          </a:xfrm>
          <a:prstGeom xmlns:a="http://schemas.openxmlformats.org/drawingml/2006/main" prst="straightConnector1">
            <a:avLst/>
          </a:prstGeom>
          <a:ln xmlns:a="http://schemas.openxmlformats.org/drawingml/2006/main" w="17145">
            <a:solidFill>
              <a:srgbClr val="132641"/>
            </a:solidFill>
            <a:tailEnd type="triangle" w="sm" len="sm"/>
          </a:ln>
        </p:spPr>
      </p:cxnSp>
      <p:sp>
        <p:nvSpPr>
          <p:cNvPr id="11" name="Annotation-group">
            <a:extLst xmlns:a="http://schemas.openxmlformats.org/drawingml/2006/main">
              <a:ext uri="{FF2B5EF4-FFF2-40B4-BE49-F238E27FC236}">
                <a16:creationId xmlns:a16="http://schemas.microsoft.com/office/drawing/2014/main" id="{66D60A71-BAEA-4B69-A56B-41A34C749BFB}"/>
              </a:ext>
            </a:extLst>
          </p:cNvPr>
          <p:cNvSpPr>
            <a:spLocks xmlns:a="http://schemas.openxmlformats.org/drawingml/2006/main" noGrp="1"/>
          </p:cNvSpPr>
          <p:nvPr/>
        </p:nvSpPr>
        <p:spPr>
          <a:xfrm xmlns:a="http://schemas.openxmlformats.org/drawingml/2006/main">
            <a:off x="457200" y="4257675"/>
            <a:ext cx="2524125" cy="2524125"/>
          </a:xfrm>
          <a:prstGeom xmlns:a="http://schemas.openxmlformats.org/drawingml/2006/main" prst="roundRect">
            <a:avLst>
              <a:gd name="adj" fmla="val 2642"/>
            </a:avLst>
          </a:prstGeom>
          <a:solidFill xmlns:a="http://schemas.openxmlformats.org/drawingml/2006/main">
            <a:srgbClr val="F5F9FE"/>
          </a:solidFill>
          <a:ln xmlns:a="http://schemas.openxmlformats.org/drawingml/2006/main" w="13335">
            <a:solidFill>
              <a:srgbClr val="6899C9"/>
            </a:solidFill>
          </a:ln>
        </p:spPr>
      </p:sp>
      <p:sp>
        <p:nvSpPr>
          <p:cNvPr id="12" name="Annotation-heading">
            <a:extLst xmlns:a="http://schemas.openxmlformats.org/drawingml/2006/main">
              <a:ext uri="{FF2B5EF4-FFF2-40B4-BE49-F238E27FC236}">
                <a16:creationId xmlns:a16="http://schemas.microsoft.com/office/drawing/2014/main" id="{8B4E6CED-CECF-4DDA-A33B-122A773E1B6B}"/>
              </a:ext>
            </a:extLst>
          </p:cNvPr>
          <p:cNvSpPr>
            <a:spLocks xmlns:a="http://schemas.openxmlformats.org/drawingml/2006/main" noGrp="1"/>
          </p:cNvSpPr>
          <p:nvPr/>
        </p:nvSpPr>
        <p:spPr>
          <a:xfrm xmlns:a="http://schemas.openxmlformats.org/drawingml/2006/main">
            <a:off x="514350" y="4333875"/>
            <a:ext cx="2409825" cy="304800"/>
          </a:xfrm>
          <a:prstGeom xmlns:a="http://schemas.openxmlformats.org/drawingml/2006/main" prst="roundRect">
            <a:avLst>
              <a:gd name="adj" fmla="val 21875"/>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Annotation</a:t>
            </a:r>
          </a:p>
        </p:txBody>
      </p:sp>
      <p:sp>
        <p:nvSpPr>
          <p:cNvPr id="13" name="Annotation-facade">
            <a:extLst xmlns:a="http://schemas.openxmlformats.org/drawingml/2006/main">
              <a:ext uri="{FF2B5EF4-FFF2-40B4-BE49-F238E27FC236}">
                <a16:creationId xmlns:a16="http://schemas.microsoft.com/office/drawing/2014/main" id="{EC1F140C-17DF-4B67-BCC9-11DCA1D0CC5D}"/>
              </a:ext>
            </a:extLst>
          </p:cNvPr>
          <p:cNvSpPr>
            <a:spLocks xmlns:a="http://schemas.openxmlformats.org/drawingml/2006/main" noGrp="1"/>
          </p:cNvSpPr>
          <p:nvPr/>
        </p:nvSpPr>
        <p:spPr>
          <a:xfrm xmlns:a="http://schemas.openxmlformats.org/drawingml/2006/main">
            <a:off x="552450" y="4791075"/>
            <a:ext cx="2333625" cy="447675"/>
          </a:xfrm>
          <a:prstGeom xmlns:a="http://schemas.openxmlformats.org/drawingml/2006/main" prst="roundRect">
            <a:avLst>
              <a:gd name="adj" fmla="val 14894"/>
            </a:avLst>
          </a:prstGeom>
          <a:solidFill xmlns:a="http://schemas.openxmlformats.org/drawingml/2006/main">
            <a:srgbClr val="E6F1FC"/>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1">
                <a:solidFill>
                  <a:srgbClr val="132641"/>
                </a:solidFill>
                <a:latin typeface="Arial"/>
                <a:ea typeface="Arial"/>
                <a:cs typeface="Arial"/>
              </a:defRPr>
            </a:defPPr>
            <a:lvl1pPr algn="ctr">
              <a:defRPr sz="1575" b="1">
                <a:solidFill>
                  <a:srgbClr val="132641"/>
                </a:solidFill>
                <a:latin typeface="Arial"/>
                <a:ea typeface="Arial"/>
                <a:cs typeface="Arial"/>
              </a:defRPr>
            </a:lvl1pPr>
            <a:lvl2pPr algn="ctr">
              <a:defRPr sz="1575" b="1">
                <a:solidFill>
                  <a:srgbClr val="132641"/>
                </a:solidFill>
                <a:latin typeface="Arial"/>
                <a:ea typeface="Arial"/>
                <a:cs typeface="Arial"/>
              </a:defRPr>
            </a:lvl2pPr>
            <a:lvl3pPr algn="ctr">
              <a:defRPr sz="1575" b="1">
                <a:solidFill>
                  <a:srgbClr val="132641"/>
                </a:solidFill>
                <a:latin typeface="Arial"/>
                <a:ea typeface="Arial"/>
                <a:cs typeface="Arial"/>
              </a:defRPr>
            </a:lvl3pPr>
            <a:lvl4pPr algn="ctr">
              <a:defRPr sz="1575" b="1">
                <a:solidFill>
                  <a:srgbClr val="132641"/>
                </a:solidFill>
                <a:latin typeface="Arial"/>
                <a:ea typeface="Arial"/>
                <a:cs typeface="Arial"/>
              </a:defRPr>
            </a:lvl4pPr>
            <a:lvl5pPr algn="ctr">
              <a:defRPr sz="1575" b="1">
                <a:solidFill>
                  <a:srgbClr val="132641"/>
                </a:solidFill>
                <a:latin typeface="Arial"/>
                <a:ea typeface="Arial"/>
                <a:cs typeface="Arial"/>
              </a:defRPr>
            </a:lvl5pPr>
            <a:lvl6pPr algn="ctr">
              <a:defRPr sz="1575" b="1">
                <a:solidFill>
                  <a:srgbClr val="132641"/>
                </a:solidFill>
                <a:latin typeface="Arial"/>
                <a:ea typeface="Arial"/>
                <a:cs typeface="Arial"/>
              </a:defRPr>
            </a:lvl6pPr>
            <a:lvl7pPr algn="ctr">
              <a:defRPr sz="1575" b="1">
                <a:solidFill>
                  <a:srgbClr val="132641"/>
                </a:solidFill>
                <a:latin typeface="Arial"/>
                <a:ea typeface="Arial"/>
                <a:cs typeface="Arial"/>
              </a:defRPr>
            </a:lvl7pPr>
            <a:lvl8pPr algn="ctr">
              <a:defRPr sz="1575" b="1">
                <a:solidFill>
                  <a:srgbClr val="132641"/>
                </a:solidFill>
                <a:latin typeface="Arial"/>
                <a:ea typeface="Arial"/>
                <a:cs typeface="Arial"/>
              </a:defRPr>
            </a:lvl8pPr>
            <a:lvl9pPr algn="ctr">
              <a:defRPr sz="1575" b="1">
                <a:solidFill>
                  <a:srgbClr val="132641"/>
                </a:solidFill>
                <a:latin typeface="Arial"/>
                <a:ea typeface="Arial"/>
                <a:cs typeface="Arial"/>
              </a:defRPr>
            </a:lvl9pPr>
          </a:lstStyle>
          <a:p xmlns:a="http://schemas.openxmlformats.org/drawingml/2006/main">
            <a:pPr algn="ctr">
              <a:defRPr sz="1575" b="1">
                <a:solidFill>
                  <a:srgbClr val="132641"/>
                </a:solidFill>
                <a:latin typeface="Arial"/>
                <a:ea typeface="Arial"/>
                <a:cs typeface="Arial"/>
              </a:defRPr>
            </a:pPr>
            <a:r>
              <a:rPr sz="1575" b="1">
                <a:solidFill>
                  <a:srgbClr val="132641"/>
                </a:solidFill>
                <a:latin typeface="Arial"/>
                <a:ea typeface="Arial"/>
                <a:cs typeface="Arial"/>
              </a:rPr>
              <a:t>AnnotationFacade</a:t>
            </a:r>
          </a:p>
        </p:txBody>
      </p:sp>
      <p:sp>
        <p:nvSpPr>
          <p:cNvPr id="14" name="Annotation-engine">
            <a:extLst xmlns:a="http://schemas.openxmlformats.org/drawingml/2006/main">
              <a:ext uri="{FF2B5EF4-FFF2-40B4-BE49-F238E27FC236}">
                <a16:creationId xmlns:a16="http://schemas.microsoft.com/office/drawing/2014/main" id="{8AA450BD-D6C5-4633-AAD4-E0E3EEF42ADF}"/>
              </a:ext>
            </a:extLst>
          </p:cNvPr>
          <p:cNvSpPr>
            <a:spLocks xmlns:a="http://schemas.openxmlformats.org/drawingml/2006/main" noGrp="1"/>
          </p:cNvSpPr>
          <p:nvPr/>
        </p:nvSpPr>
        <p:spPr>
          <a:xfrm xmlns:a="http://schemas.openxmlformats.org/drawingml/2006/main">
            <a:off x="552450" y="5553075"/>
            <a:ext cx="2333625" cy="1019175"/>
          </a:xfrm>
          <a:prstGeom xmlns:a="http://schemas.openxmlformats.org/drawingml/2006/main" prst="roundRect">
            <a:avLst>
              <a:gd name="adj" fmla="val 6542"/>
            </a:avLst>
          </a:prstGeom>
          <a:solidFill xmlns:a="http://schemas.openxmlformats.org/drawingml/2006/main">
            <a:srgbClr val="FFFFFF"/>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0">
                <a:solidFill>
                  <a:srgbClr val="132641"/>
                </a:solidFill>
                <a:latin typeface="Arial"/>
                <a:ea typeface="Arial"/>
                <a:cs typeface="Arial"/>
              </a:defRPr>
            </a:defPPr>
            <a:lvl1pPr algn="ctr">
              <a:defRPr sz="1575" b="0">
                <a:solidFill>
                  <a:srgbClr val="132641"/>
                </a:solidFill>
                <a:latin typeface="Arial"/>
                <a:ea typeface="Arial"/>
                <a:cs typeface="Arial"/>
              </a:defRPr>
            </a:lvl1pPr>
            <a:lvl2pPr algn="ctr">
              <a:defRPr sz="1575" b="0">
                <a:solidFill>
                  <a:srgbClr val="132641"/>
                </a:solidFill>
                <a:latin typeface="Arial"/>
                <a:ea typeface="Arial"/>
                <a:cs typeface="Arial"/>
              </a:defRPr>
            </a:lvl2pPr>
            <a:lvl3pPr algn="ctr">
              <a:defRPr sz="1575" b="0">
                <a:solidFill>
                  <a:srgbClr val="132641"/>
                </a:solidFill>
                <a:latin typeface="Arial"/>
                <a:ea typeface="Arial"/>
                <a:cs typeface="Arial"/>
              </a:defRPr>
            </a:lvl3pPr>
            <a:lvl4pPr algn="ctr">
              <a:defRPr sz="1575" b="0">
                <a:solidFill>
                  <a:srgbClr val="132641"/>
                </a:solidFill>
                <a:latin typeface="Arial"/>
                <a:ea typeface="Arial"/>
                <a:cs typeface="Arial"/>
              </a:defRPr>
            </a:lvl4pPr>
            <a:lvl5pPr algn="ctr">
              <a:defRPr sz="1575" b="0">
                <a:solidFill>
                  <a:srgbClr val="132641"/>
                </a:solidFill>
                <a:latin typeface="Arial"/>
                <a:ea typeface="Arial"/>
                <a:cs typeface="Arial"/>
              </a:defRPr>
            </a:lvl5pPr>
            <a:lvl6pPr algn="ctr">
              <a:defRPr sz="1575" b="0">
                <a:solidFill>
                  <a:srgbClr val="132641"/>
                </a:solidFill>
                <a:latin typeface="Arial"/>
                <a:ea typeface="Arial"/>
                <a:cs typeface="Arial"/>
              </a:defRPr>
            </a:lvl6pPr>
            <a:lvl7pPr algn="ctr">
              <a:defRPr sz="1575" b="0">
                <a:solidFill>
                  <a:srgbClr val="132641"/>
                </a:solidFill>
                <a:latin typeface="Arial"/>
                <a:ea typeface="Arial"/>
                <a:cs typeface="Arial"/>
              </a:defRPr>
            </a:lvl7pPr>
            <a:lvl8pPr algn="ctr">
              <a:defRPr sz="1575" b="0">
                <a:solidFill>
                  <a:srgbClr val="132641"/>
                </a:solidFill>
                <a:latin typeface="Arial"/>
                <a:ea typeface="Arial"/>
                <a:cs typeface="Arial"/>
              </a:defRPr>
            </a:lvl8pPr>
            <a:lvl9pPr algn="ctr">
              <a:defRPr sz="1575" b="0">
                <a:solidFill>
                  <a:srgbClr val="132641"/>
                </a:solidFill>
                <a:latin typeface="Arial"/>
                <a:ea typeface="Arial"/>
                <a:cs typeface="Arial"/>
              </a:defRPr>
            </a:lvl9pPr>
          </a:lstStyle>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Brush / Undo</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Tiles / Reassembly</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SAM2 / ONNX</a:t>
            </a:r>
          </a:p>
        </p:txBody>
      </p:sp>
      <p:cxnSp>
        <p:nvCxnSpPr>
          <p:cNvPr id="15" name="">
            <a:extLst xmlns:a="http://schemas.openxmlformats.org/drawingml/2006/main">
              <a:ext uri="{FF2B5EF4-FFF2-40B4-BE49-F238E27FC236}">
                <a16:creationId xmlns:a16="http://schemas.microsoft.com/office/drawing/2014/main" id="{4717DCEC-7104-4054-8DB9-94F4BE8AA0B1}"/>
              </a:ext>
            </a:extLst>
          </p:cNvPr>
          <p:cNvCxnSpPr>
            <a:stCxn xmlns:a="http://schemas.openxmlformats.org/drawingml/2006/main" id="8" idx="2"/>
            <a:endCxn xmlns:a="http://schemas.openxmlformats.org/drawingml/2006/main" id="11" idx="0"/>
          </p:cNvCxnSpPr>
          <p:nvPr/>
        </p:nvCxnSpPr>
        <p:spPr>
          <a:xfrm xmlns:a="http://schemas.openxmlformats.org/drawingml/2006/main" flipH="1">
            <a:off x="1719263" y="3933825"/>
            <a:ext cx="4014788" cy="323850"/>
          </a:xfrm>
          <a:prstGeom xmlns:a="http://schemas.openxmlformats.org/drawingml/2006/main" prst="bentConnector4">
            <a:avLst>
              <a:gd name="adj1" fmla="val 0"/>
              <a:gd name="adj2" fmla="val 50000"/>
            </a:avLst>
          </a:prstGeom>
          <a:ln xmlns:a="http://schemas.openxmlformats.org/drawingml/2006/main" w="17145">
            <a:solidFill>
              <a:srgbClr val="132641"/>
            </a:solidFill>
            <a:tailEnd type="triangle" w="sm" len="sm"/>
          </a:ln>
        </p:spPr>
      </p:cxnSp>
      <p:cxnSp>
        <p:nvCxnSpPr>
          <p:cNvPr id="16" name="">
            <a:extLst xmlns:a="http://schemas.openxmlformats.org/drawingml/2006/main">
              <a:ext uri="{FF2B5EF4-FFF2-40B4-BE49-F238E27FC236}">
                <a16:creationId xmlns:a16="http://schemas.microsoft.com/office/drawing/2014/main" id="{97158FC1-191E-46B1-ACF6-F1A0995D80CE}"/>
              </a:ext>
            </a:extLst>
          </p:cNvPr>
          <p:cNvCxnSpPr>
            <a:stCxn xmlns:a="http://schemas.openxmlformats.org/drawingml/2006/main" id="13" idx="2"/>
            <a:endCxn xmlns:a="http://schemas.openxmlformats.org/drawingml/2006/main" id="14" idx="0"/>
          </p:cNvCxnSpPr>
          <p:nvPr/>
        </p:nvCxnSpPr>
        <p:spPr>
          <a:xfrm xmlns:a="http://schemas.openxmlformats.org/drawingml/2006/main">
            <a:off x="1719263" y="5238750"/>
            <a:ext cx="0" cy="314325"/>
          </a:xfrm>
          <a:prstGeom xmlns:a="http://schemas.openxmlformats.org/drawingml/2006/main" prst="straightConnector1">
            <a:avLst/>
          </a:prstGeom>
          <a:ln xmlns:a="http://schemas.openxmlformats.org/drawingml/2006/main" w="17145">
            <a:solidFill>
              <a:srgbClr val="132641"/>
            </a:solidFill>
            <a:tailEnd type="triangle" w="sm" len="sm"/>
          </a:ln>
        </p:spPr>
      </p:cxnSp>
      <p:sp>
        <p:nvSpPr>
          <p:cNvPr id="17" name="Segmentation-group">
            <a:extLst xmlns:a="http://schemas.openxmlformats.org/drawingml/2006/main">
              <a:ext uri="{FF2B5EF4-FFF2-40B4-BE49-F238E27FC236}">
                <a16:creationId xmlns:a16="http://schemas.microsoft.com/office/drawing/2014/main" id="{6D953633-A8F9-44DE-82F1-73E042A1BB8E}"/>
              </a:ext>
            </a:extLst>
          </p:cNvPr>
          <p:cNvSpPr>
            <a:spLocks xmlns:a="http://schemas.openxmlformats.org/drawingml/2006/main" noGrp="1"/>
          </p:cNvSpPr>
          <p:nvPr/>
        </p:nvSpPr>
        <p:spPr>
          <a:xfrm xmlns:a="http://schemas.openxmlformats.org/drawingml/2006/main">
            <a:off x="3133725" y="4257675"/>
            <a:ext cx="2524125" cy="2524125"/>
          </a:xfrm>
          <a:prstGeom xmlns:a="http://schemas.openxmlformats.org/drawingml/2006/main" prst="roundRect">
            <a:avLst>
              <a:gd name="adj" fmla="val 2642"/>
            </a:avLst>
          </a:prstGeom>
          <a:solidFill xmlns:a="http://schemas.openxmlformats.org/drawingml/2006/main">
            <a:srgbClr val="F5F9FE"/>
          </a:solidFill>
          <a:ln xmlns:a="http://schemas.openxmlformats.org/drawingml/2006/main" w="13335">
            <a:solidFill>
              <a:srgbClr val="6899C9"/>
            </a:solidFill>
          </a:ln>
        </p:spPr>
      </p:sp>
      <p:sp>
        <p:nvSpPr>
          <p:cNvPr id="18" name="Segmentation-heading">
            <a:extLst xmlns:a="http://schemas.openxmlformats.org/drawingml/2006/main">
              <a:ext uri="{FF2B5EF4-FFF2-40B4-BE49-F238E27FC236}">
                <a16:creationId xmlns:a16="http://schemas.microsoft.com/office/drawing/2014/main" id="{D9C4D27A-410B-4411-B860-340339C7FD6E}"/>
              </a:ext>
            </a:extLst>
          </p:cNvPr>
          <p:cNvSpPr>
            <a:spLocks xmlns:a="http://schemas.openxmlformats.org/drawingml/2006/main" noGrp="1"/>
          </p:cNvSpPr>
          <p:nvPr/>
        </p:nvSpPr>
        <p:spPr>
          <a:xfrm xmlns:a="http://schemas.openxmlformats.org/drawingml/2006/main">
            <a:off x="3190875" y="4333875"/>
            <a:ext cx="2409825" cy="304800"/>
          </a:xfrm>
          <a:prstGeom xmlns:a="http://schemas.openxmlformats.org/drawingml/2006/main" prst="roundRect">
            <a:avLst>
              <a:gd name="adj" fmla="val 21875"/>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Segmentation</a:t>
            </a:r>
          </a:p>
        </p:txBody>
      </p:sp>
      <p:sp>
        <p:nvSpPr>
          <p:cNvPr id="19" name="Segmentation-facade">
            <a:extLst xmlns:a="http://schemas.openxmlformats.org/drawingml/2006/main">
              <a:ext uri="{FF2B5EF4-FFF2-40B4-BE49-F238E27FC236}">
                <a16:creationId xmlns:a16="http://schemas.microsoft.com/office/drawing/2014/main" id="{7E5370A9-80F0-4AE0-AA81-F07245CBD61A}"/>
              </a:ext>
            </a:extLst>
          </p:cNvPr>
          <p:cNvSpPr>
            <a:spLocks xmlns:a="http://schemas.openxmlformats.org/drawingml/2006/main" noGrp="1"/>
          </p:cNvSpPr>
          <p:nvPr/>
        </p:nvSpPr>
        <p:spPr>
          <a:xfrm xmlns:a="http://schemas.openxmlformats.org/drawingml/2006/main">
            <a:off x="3228975" y="4791075"/>
            <a:ext cx="2333625" cy="447675"/>
          </a:xfrm>
          <a:prstGeom xmlns:a="http://schemas.openxmlformats.org/drawingml/2006/main" prst="roundRect">
            <a:avLst>
              <a:gd name="adj" fmla="val 14894"/>
            </a:avLst>
          </a:prstGeom>
          <a:solidFill xmlns:a="http://schemas.openxmlformats.org/drawingml/2006/main">
            <a:srgbClr val="E6F1FC"/>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1">
                <a:solidFill>
                  <a:srgbClr val="132641"/>
                </a:solidFill>
                <a:latin typeface="Arial"/>
                <a:ea typeface="Arial"/>
                <a:cs typeface="Arial"/>
              </a:defRPr>
            </a:defPPr>
            <a:lvl1pPr algn="ctr">
              <a:defRPr sz="1575" b="1">
                <a:solidFill>
                  <a:srgbClr val="132641"/>
                </a:solidFill>
                <a:latin typeface="Arial"/>
                <a:ea typeface="Arial"/>
                <a:cs typeface="Arial"/>
              </a:defRPr>
            </a:lvl1pPr>
            <a:lvl2pPr algn="ctr">
              <a:defRPr sz="1575" b="1">
                <a:solidFill>
                  <a:srgbClr val="132641"/>
                </a:solidFill>
                <a:latin typeface="Arial"/>
                <a:ea typeface="Arial"/>
                <a:cs typeface="Arial"/>
              </a:defRPr>
            </a:lvl2pPr>
            <a:lvl3pPr algn="ctr">
              <a:defRPr sz="1575" b="1">
                <a:solidFill>
                  <a:srgbClr val="132641"/>
                </a:solidFill>
                <a:latin typeface="Arial"/>
                <a:ea typeface="Arial"/>
                <a:cs typeface="Arial"/>
              </a:defRPr>
            </a:lvl3pPr>
            <a:lvl4pPr algn="ctr">
              <a:defRPr sz="1575" b="1">
                <a:solidFill>
                  <a:srgbClr val="132641"/>
                </a:solidFill>
                <a:latin typeface="Arial"/>
                <a:ea typeface="Arial"/>
                <a:cs typeface="Arial"/>
              </a:defRPr>
            </a:lvl4pPr>
            <a:lvl5pPr algn="ctr">
              <a:defRPr sz="1575" b="1">
                <a:solidFill>
                  <a:srgbClr val="132641"/>
                </a:solidFill>
                <a:latin typeface="Arial"/>
                <a:ea typeface="Arial"/>
                <a:cs typeface="Arial"/>
              </a:defRPr>
            </a:lvl5pPr>
            <a:lvl6pPr algn="ctr">
              <a:defRPr sz="1575" b="1">
                <a:solidFill>
                  <a:srgbClr val="132641"/>
                </a:solidFill>
                <a:latin typeface="Arial"/>
                <a:ea typeface="Arial"/>
                <a:cs typeface="Arial"/>
              </a:defRPr>
            </a:lvl6pPr>
            <a:lvl7pPr algn="ctr">
              <a:defRPr sz="1575" b="1">
                <a:solidFill>
                  <a:srgbClr val="132641"/>
                </a:solidFill>
                <a:latin typeface="Arial"/>
                <a:ea typeface="Arial"/>
                <a:cs typeface="Arial"/>
              </a:defRPr>
            </a:lvl7pPr>
            <a:lvl8pPr algn="ctr">
              <a:defRPr sz="1575" b="1">
                <a:solidFill>
                  <a:srgbClr val="132641"/>
                </a:solidFill>
                <a:latin typeface="Arial"/>
                <a:ea typeface="Arial"/>
                <a:cs typeface="Arial"/>
              </a:defRPr>
            </a:lvl8pPr>
            <a:lvl9pPr algn="ctr">
              <a:defRPr sz="1575" b="1">
                <a:solidFill>
                  <a:srgbClr val="132641"/>
                </a:solidFill>
                <a:latin typeface="Arial"/>
                <a:ea typeface="Arial"/>
                <a:cs typeface="Arial"/>
              </a:defRPr>
            </a:lvl9pPr>
          </a:lstStyle>
          <a:p xmlns:a="http://schemas.openxmlformats.org/drawingml/2006/main">
            <a:pPr algn="ctr">
              <a:defRPr sz="1575" b="1">
                <a:solidFill>
                  <a:srgbClr val="132641"/>
                </a:solidFill>
                <a:latin typeface="Arial"/>
                <a:ea typeface="Arial"/>
                <a:cs typeface="Arial"/>
              </a:defRPr>
            </a:pPr>
            <a:r>
              <a:rPr sz="1575" b="1">
                <a:solidFill>
                  <a:srgbClr val="132641"/>
                </a:solidFill>
                <a:latin typeface="Arial"/>
                <a:ea typeface="Arial"/>
                <a:cs typeface="Arial"/>
              </a:rPr>
              <a:t>SegmentationFacade</a:t>
            </a:r>
          </a:p>
        </p:txBody>
      </p:sp>
      <p:sp>
        <p:nvSpPr>
          <p:cNvPr id="20" name="Segmentation-engine">
            <a:extLst xmlns:a="http://schemas.openxmlformats.org/drawingml/2006/main">
              <a:ext uri="{FF2B5EF4-FFF2-40B4-BE49-F238E27FC236}">
                <a16:creationId xmlns:a16="http://schemas.microsoft.com/office/drawing/2014/main" id="{6E1F669B-F33E-4314-889A-40D44316D939}"/>
              </a:ext>
            </a:extLst>
          </p:cNvPr>
          <p:cNvSpPr>
            <a:spLocks xmlns:a="http://schemas.openxmlformats.org/drawingml/2006/main" noGrp="1"/>
          </p:cNvSpPr>
          <p:nvPr/>
        </p:nvSpPr>
        <p:spPr>
          <a:xfrm xmlns:a="http://schemas.openxmlformats.org/drawingml/2006/main">
            <a:off x="3228975" y="5553075"/>
            <a:ext cx="2333625" cy="1019175"/>
          </a:xfrm>
          <a:prstGeom xmlns:a="http://schemas.openxmlformats.org/drawingml/2006/main" prst="roundRect">
            <a:avLst>
              <a:gd name="adj" fmla="val 6542"/>
            </a:avLst>
          </a:prstGeom>
          <a:solidFill xmlns:a="http://schemas.openxmlformats.org/drawingml/2006/main">
            <a:srgbClr val="FFFFFF"/>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0">
                <a:solidFill>
                  <a:srgbClr val="132641"/>
                </a:solidFill>
                <a:latin typeface="Arial"/>
                <a:ea typeface="Arial"/>
                <a:cs typeface="Arial"/>
              </a:defRPr>
            </a:defPPr>
            <a:lvl1pPr algn="ctr">
              <a:defRPr sz="1575" b="0">
                <a:solidFill>
                  <a:srgbClr val="132641"/>
                </a:solidFill>
                <a:latin typeface="Arial"/>
                <a:ea typeface="Arial"/>
                <a:cs typeface="Arial"/>
              </a:defRPr>
            </a:lvl1pPr>
            <a:lvl2pPr algn="ctr">
              <a:defRPr sz="1575" b="0">
                <a:solidFill>
                  <a:srgbClr val="132641"/>
                </a:solidFill>
                <a:latin typeface="Arial"/>
                <a:ea typeface="Arial"/>
                <a:cs typeface="Arial"/>
              </a:defRPr>
            </a:lvl2pPr>
            <a:lvl3pPr algn="ctr">
              <a:defRPr sz="1575" b="0">
                <a:solidFill>
                  <a:srgbClr val="132641"/>
                </a:solidFill>
                <a:latin typeface="Arial"/>
                <a:ea typeface="Arial"/>
                <a:cs typeface="Arial"/>
              </a:defRPr>
            </a:lvl3pPr>
            <a:lvl4pPr algn="ctr">
              <a:defRPr sz="1575" b="0">
                <a:solidFill>
                  <a:srgbClr val="132641"/>
                </a:solidFill>
                <a:latin typeface="Arial"/>
                <a:ea typeface="Arial"/>
                <a:cs typeface="Arial"/>
              </a:defRPr>
            </a:lvl4pPr>
            <a:lvl5pPr algn="ctr">
              <a:defRPr sz="1575" b="0">
                <a:solidFill>
                  <a:srgbClr val="132641"/>
                </a:solidFill>
                <a:latin typeface="Arial"/>
                <a:ea typeface="Arial"/>
                <a:cs typeface="Arial"/>
              </a:defRPr>
            </a:lvl5pPr>
            <a:lvl6pPr algn="ctr">
              <a:defRPr sz="1575" b="0">
                <a:solidFill>
                  <a:srgbClr val="132641"/>
                </a:solidFill>
                <a:latin typeface="Arial"/>
                <a:ea typeface="Arial"/>
                <a:cs typeface="Arial"/>
              </a:defRPr>
            </a:lvl6pPr>
            <a:lvl7pPr algn="ctr">
              <a:defRPr sz="1575" b="0">
                <a:solidFill>
                  <a:srgbClr val="132641"/>
                </a:solidFill>
                <a:latin typeface="Arial"/>
                <a:ea typeface="Arial"/>
                <a:cs typeface="Arial"/>
              </a:defRPr>
            </a:lvl7pPr>
            <a:lvl8pPr algn="ctr">
              <a:defRPr sz="1575" b="0">
                <a:solidFill>
                  <a:srgbClr val="132641"/>
                </a:solidFill>
                <a:latin typeface="Arial"/>
                <a:ea typeface="Arial"/>
                <a:cs typeface="Arial"/>
              </a:defRPr>
            </a:lvl8pPr>
            <a:lvl9pPr algn="ctr">
              <a:defRPr sz="1575" b="0">
                <a:solidFill>
                  <a:srgbClr val="132641"/>
                </a:solidFill>
                <a:latin typeface="Arial"/>
                <a:ea typeface="Arial"/>
                <a:cs typeface="Arial"/>
              </a:defRPr>
            </a:lvl9pPr>
          </a:lstStyle>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runner.py / predict.py</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Preview</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Batch prediction</a:t>
            </a:r>
          </a:p>
        </p:txBody>
      </p:sp>
      <p:cxnSp>
        <p:nvCxnSpPr>
          <p:cNvPr id="21" name="">
            <a:extLst xmlns:a="http://schemas.openxmlformats.org/drawingml/2006/main">
              <a:ext uri="{FF2B5EF4-FFF2-40B4-BE49-F238E27FC236}">
                <a16:creationId xmlns:a16="http://schemas.microsoft.com/office/drawing/2014/main" id="{483CFAEF-EA1E-448B-9877-29CCA58B43B6}"/>
              </a:ext>
            </a:extLst>
          </p:cNvPr>
          <p:cNvCxnSpPr>
            <a:stCxn xmlns:a="http://schemas.openxmlformats.org/drawingml/2006/main" id="8" idx="2"/>
            <a:endCxn xmlns:a="http://schemas.openxmlformats.org/drawingml/2006/main" id="17" idx="0"/>
          </p:cNvCxnSpPr>
          <p:nvPr/>
        </p:nvCxnSpPr>
        <p:spPr>
          <a:xfrm xmlns:a="http://schemas.openxmlformats.org/drawingml/2006/main" flipH="1">
            <a:off x="4395788" y="3933825"/>
            <a:ext cx="1338263" cy="323850"/>
          </a:xfrm>
          <a:prstGeom xmlns:a="http://schemas.openxmlformats.org/drawingml/2006/main" prst="bentConnector4">
            <a:avLst>
              <a:gd name="adj1" fmla="val 0"/>
              <a:gd name="adj2" fmla="val 50000"/>
            </a:avLst>
          </a:prstGeom>
          <a:ln xmlns:a="http://schemas.openxmlformats.org/drawingml/2006/main" w="17145">
            <a:solidFill>
              <a:srgbClr val="132641"/>
            </a:solidFill>
            <a:tailEnd type="triangle" w="sm" len="sm"/>
          </a:ln>
        </p:spPr>
      </p:cxnSp>
      <p:cxnSp>
        <p:nvCxnSpPr>
          <p:cNvPr id="22" name="">
            <a:extLst xmlns:a="http://schemas.openxmlformats.org/drawingml/2006/main">
              <a:ext uri="{FF2B5EF4-FFF2-40B4-BE49-F238E27FC236}">
                <a16:creationId xmlns:a16="http://schemas.microsoft.com/office/drawing/2014/main" id="{E4EB7272-0C01-41A7-BCF2-0BD4FD365A1F}"/>
              </a:ext>
            </a:extLst>
          </p:cNvPr>
          <p:cNvCxnSpPr>
            <a:stCxn xmlns:a="http://schemas.openxmlformats.org/drawingml/2006/main" id="19" idx="2"/>
            <a:endCxn xmlns:a="http://schemas.openxmlformats.org/drawingml/2006/main" id="20" idx="0"/>
          </p:cNvCxnSpPr>
          <p:nvPr/>
        </p:nvCxnSpPr>
        <p:spPr>
          <a:xfrm xmlns:a="http://schemas.openxmlformats.org/drawingml/2006/main">
            <a:off x="4395788" y="5238750"/>
            <a:ext cx="0" cy="314325"/>
          </a:xfrm>
          <a:prstGeom xmlns:a="http://schemas.openxmlformats.org/drawingml/2006/main" prst="straightConnector1">
            <a:avLst/>
          </a:prstGeom>
          <a:ln xmlns:a="http://schemas.openxmlformats.org/drawingml/2006/main" w="17145">
            <a:solidFill>
              <a:srgbClr val="132641"/>
            </a:solidFill>
            <a:tailEnd type="triangle" w="sm" len="sm"/>
          </a:ln>
        </p:spPr>
      </p:cxnSp>
      <p:sp>
        <p:nvSpPr>
          <p:cNvPr id="23" name="Root Phenotyping-group">
            <a:extLst xmlns:a="http://schemas.openxmlformats.org/drawingml/2006/main">
              <a:ext uri="{FF2B5EF4-FFF2-40B4-BE49-F238E27FC236}">
                <a16:creationId xmlns:a16="http://schemas.microsoft.com/office/drawing/2014/main" id="{24FFA3A1-6775-4755-B68A-804950F2AC85}"/>
              </a:ext>
            </a:extLst>
          </p:cNvPr>
          <p:cNvSpPr>
            <a:spLocks xmlns:a="http://schemas.openxmlformats.org/drawingml/2006/main" noGrp="1"/>
          </p:cNvSpPr>
          <p:nvPr/>
        </p:nvSpPr>
        <p:spPr>
          <a:xfrm xmlns:a="http://schemas.openxmlformats.org/drawingml/2006/main">
            <a:off x="5810250" y="4257675"/>
            <a:ext cx="2524125" cy="2524125"/>
          </a:xfrm>
          <a:prstGeom xmlns:a="http://schemas.openxmlformats.org/drawingml/2006/main" prst="roundRect">
            <a:avLst>
              <a:gd name="adj" fmla="val 2642"/>
            </a:avLst>
          </a:prstGeom>
          <a:solidFill xmlns:a="http://schemas.openxmlformats.org/drawingml/2006/main">
            <a:srgbClr val="F5F9FE"/>
          </a:solidFill>
          <a:ln xmlns:a="http://schemas.openxmlformats.org/drawingml/2006/main" w="13335">
            <a:solidFill>
              <a:srgbClr val="6899C9"/>
            </a:solidFill>
          </a:ln>
        </p:spPr>
      </p:sp>
      <p:sp>
        <p:nvSpPr>
          <p:cNvPr id="24" name="Root Phenotyping-heading">
            <a:extLst xmlns:a="http://schemas.openxmlformats.org/drawingml/2006/main">
              <a:ext uri="{FF2B5EF4-FFF2-40B4-BE49-F238E27FC236}">
                <a16:creationId xmlns:a16="http://schemas.microsoft.com/office/drawing/2014/main" id="{4319CEFF-E60F-439B-BDA0-722C21A13A13}"/>
              </a:ext>
            </a:extLst>
          </p:cNvPr>
          <p:cNvSpPr>
            <a:spLocks xmlns:a="http://schemas.openxmlformats.org/drawingml/2006/main" noGrp="1"/>
          </p:cNvSpPr>
          <p:nvPr/>
        </p:nvSpPr>
        <p:spPr>
          <a:xfrm xmlns:a="http://schemas.openxmlformats.org/drawingml/2006/main">
            <a:off x="5867400" y="4333875"/>
            <a:ext cx="2409825" cy="304800"/>
          </a:xfrm>
          <a:prstGeom xmlns:a="http://schemas.openxmlformats.org/drawingml/2006/main" prst="roundRect">
            <a:avLst>
              <a:gd name="adj" fmla="val 21875"/>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Root Phenotyping</a:t>
            </a:r>
          </a:p>
        </p:txBody>
      </p:sp>
      <p:sp>
        <p:nvSpPr>
          <p:cNvPr id="25" name="Root Phenotyping-facade">
            <a:extLst xmlns:a="http://schemas.openxmlformats.org/drawingml/2006/main">
              <a:ext uri="{FF2B5EF4-FFF2-40B4-BE49-F238E27FC236}">
                <a16:creationId xmlns:a16="http://schemas.microsoft.com/office/drawing/2014/main" id="{B17E087A-DD6E-4A34-8074-62A5C89DC70A}"/>
              </a:ext>
            </a:extLst>
          </p:cNvPr>
          <p:cNvSpPr>
            <a:spLocks xmlns:a="http://schemas.openxmlformats.org/drawingml/2006/main" noGrp="1"/>
          </p:cNvSpPr>
          <p:nvPr/>
        </p:nvSpPr>
        <p:spPr>
          <a:xfrm xmlns:a="http://schemas.openxmlformats.org/drawingml/2006/main">
            <a:off x="5905500" y="4791075"/>
            <a:ext cx="2333625" cy="447675"/>
          </a:xfrm>
          <a:prstGeom xmlns:a="http://schemas.openxmlformats.org/drawingml/2006/main" prst="roundRect">
            <a:avLst>
              <a:gd name="adj" fmla="val 14894"/>
            </a:avLst>
          </a:prstGeom>
          <a:solidFill xmlns:a="http://schemas.openxmlformats.org/drawingml/2006/main">
            <a:srgbClr val="E6F1FC"/>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1">
                <a:solidFill>
                  <a:srgbClr val="132641"/>
                </a:solidFill>
                <a:latin typeface="Arial"/>
                <a:ea typeface="Arial"/>
                <a:cs typeface="Arial"/>
              </a:defRPr>
            </a:defPPr>
            <a:lvl1pPr algn="ctr">
              <a:defRPr sz="1575" b="1">
                <a:solidFill>
                  <a:srgbClr val="132641"/>
                </a:solidFill>
                <a:latin typeface="Arial"/>
                <a:ea typeface="Arial"/>
                <a:cs typeface="Arial"/>
              </a:defRPr>
            </a:lvl1pPr>
            <a:lvl2pPr algn="ctr">
              <a:defRPr sz="1575" b="1">
                <a:solidFill>
                  <a:srgbClr val="132641"/>
                </a:solidFill>
                <a:latin typeface="Arial"/>
                <a:ea typeface="Arial"/>
                <a:cs typeface="Arial"/>
              </a:defRPr>
            </a:lvl2pPr>
            <a:lvl3pPr algn="ctr">
              <a:defRPr sz="1575" b="1">
                <a:solidFill>
                  <a:srgbClr val="132641"/>
                </a:solidFill>
                <a:latin typeface="Arial"/>
                <a:ea typeface="Arial"/>
                <a:cs typeface="Arial"/>
              </a:defRPr>
            </a:lvl3pPr>
            <a:lvl4pPr algn="ctr">
              <a:defRPr sz="1575" b="1">
                <a:solidFill>
                  <a:srgbClr val="132641"/>
                </a:solidFill>
                <a:latin typeface="Arial"/>
                <a:ea typeface="Arial"/>
                <a:cs typeface="Arial"/>
              </a:defRPr>
            </a:lvl4pPr>
            <a:lvl5pPr algn="ctr">
              <a:defRPr sz="1575" b="1">
                <a:solidFill>
                  <a:srgbClr val="132641"/>
                </a:solidFill>
                <a:latin typeface="Arial"/>
                <a:ea typeface="Arial"/>
                <a:cs typeface="Arial"/>
              </a:defRPr>
            </a:lvl5pPr>
            <a:lvl6pPr algn="ctr">
              <a:defRPr sz="1575" b="1">
                <a:solidFill>
                  <a:srgbClr val="132641"/>
                </a:solidFill>
                <a:latin typeface="Arial"/>
                <a:ea typeface="Arial"/>
                <a:cs typeface="Arial"/>
              </a:defRPr>
            </a:lvl6pPr>
            <a:lvl7pPr algn="ctr">
              <a:defRPr sz="1575" b="1">
                <a:solidFill>
                  <a:srgbClr val="132641"/>
                </a:solidFill>
                <a:latin typeface="Arial"/>
                <a:ea typeface="Arial"/>
                <a:cs typeface="Arial"/>
              </a:defRPr>
            </a:lvl7pPr>
            <a:lvl8pPr algn="ctr">
              <a:defRPr sz="1575" b="1">
                <a:solidFill>
                  <a:srgbClr val="132641"/>
                </a:solidFill>
                <a:latin typeface="Arial"/>
                <a:ea typeface="Arial"/>
                <a:cs typeface="Arial"/>
              </a:defRPr>
            </a:lvl8pPr>
            <a:lvl9pPr algn="ctr">
              <a:defRPr sz="1575" b="1">
                <a:solidFill>
                  <a:srgbClr val="132641"/>
                </a:solidFill>
                <a:latin typeface="Arial"/>
                <a:ea typeface="Arial"/>
                <a:cs typeface="Arial"/>
              </a:defRPr>
            </a:lvl9pPr>
          </a:lstStyle>
          <a:p xmlns:a="http://schemas.openxmlformats.org/drawingml/2006/main">
            <a:pPr algn="ctr">
              <a:defRPr sz="1575" b="1">
                <a:solidFill>
                  <a:srgbClr val="132641"/>
                </a:solidFill>
                <a:latin typeface="Arial"/>
                <a:ea typeface="Arial"/>
                <a:cs typeface="Arial"/>
              </a:defRPr>
            </a:pPr>
            <a:r>
              <a:rPr sz="1575" b="1">
                <a:solidFill>
                  <a:srgbClr val="132641"/>
                </a:solidFill>
                <a:latin typeface="Arial"/>
                <a:ea typeface="Arial"/>
                <a:cs typeface="Arial"/>
              </a:rPr>
              <a:t>PhenotypingFacade</a:t>
            </a:r>
          </a:p>
        </p:txBody>
      </p:sp>
      <p:sp>
        <p:nvSpPr>
          <p:cNvPr id="26" name="Root Phenotyping-engine">
            <a:extLst xmlns:a="http://schemas.openxmlformats.org/drawingml/2006/main">
              <a:ext uri="{FF2B5EF4-FFF2-40B4-BE49-F238E27FC236}">
                <a16:creationId xmlns:a16="http://schemas.microsoft.com/office/drawing/2014/main" id="{ED3E1A7B-AF9E-4670-AC6C-35ADE3E8177B}"/>
              </a:ext>
            </a:extLst>
          </p:cNvPr>
          <p:cNvSpPr>
            <a:spLocks xmlns:a="http://schemas.openxmlformats.org/drawingml/2006/main" noGrp="1"/>
          </p:cNvSpPr>
          <p:nvPr/>
        </p:nvSpPr>
        <p:spPr>
          <a:xfrm xmlns:a="http://schemas.openxmlformats.org/drawingml/2006/main">
            <a:off x="5905500" y="5553075"/>
            <a:ext cx="2333625" cy="1019175"/>
          </a:xfrm>
          <a:prstGeom xmlns:a="http://schemas.openxmlformats.org/drawingml/2006/main" prst="roundRect">
            <a:avLst>
              <a:gd name="adj" fmla="val 6542"/>
            </a:avLst>
          </a:prstGeom>
          <a:solidFill xmlns:a="http://schemas.openxmlformats.org/drawingml/2006/main">
            <a:srgbClr val="FFFFFF"/>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0">
                <a:solidFill>
                  <a:srgbClr val="132641"/>
                </a:solidFill>
                <a:latin typeface="Arial"/>
                <a:ea typeface="Arial"/>
                <a:cs typeface="Arial"/>
              </a:defRPr>
            </a:defPPr>
            <a:lvl1pPr algn="ctr">
              <a:defRPr sz="1575" b="0">
                <a:solidFill>
                  <a:srgbClr val="132641"/>
                </a:solidFill>
                <a:latin typeface="Arial"/>
                <a:ea typeface="Arial"/>
                <a:cs typeface="Arial"/>
              </a:defRPr>
            </a:lvl1pPr>
            <a:lvl2pPr algn="ctr">
              <a:defRPr sz="1575" b="0">
                <a:solidFill>
                  <a:srgbClr val="132641"/>
                </a:solidFill>
                <a:latin typeface="Arial"/>
                <a:ea typeface="Arial"/>
                <a:cs typeface="Arial"/>
              </a:defRPr>
            </a:lvl2pPr>
            <a:lvl3pPr algn="ctr">
              <a:defRPr sz="1575" b="0">
                <a:solidFill>
                  <a:srgbClr val="132641"/>
                </a:solidFill>
                <a:latin typeface="Arial"/>
                <a:ea typeface="Arial"/>
                <a:cs typeface="Arial"/>
              </a:defRPr>
            </a:lvl3pPr>
            <a:lvl4pPr algn="ctr">
              <a:defRPr sz="1575" b="0">
                <a:solidFill>
                  <a:srgbClr val="132641"/>
                </a:solidFill>
                <a:latin typeface="Arial"/>
                <a:ea typeface="Arial"/>
                <a:cs typeface="Arial"/>
              </a:defRPr>
            </a:lvl4pPr>
            <a:lvl5pPr algn="ctr">
              <a:defRPr sz="1575" b="0">
                <a:solidFill>
                  <a:srgbClr val="132641"/>
                </a:solidFill>
                <a:latin typeface="Arial"/>
                <a:ea typeface="Arial"/>
                <a:cs typeface="Arial"/>
              </a:defRPr>
            </a:lvl5pPr>
            <a:lvl6pPr algn="ctr">
              <a:defRPr sz="1575" b="0">
                <a:solidFill>
                  <a:srgbClr val="132641"/>
                </a:solidFill>
                <a:latin typeface="Arial"/>
                <a:ea typeface="Arial"/>
                <a:cs typeface="Arial"/>
              </a:defRPr>
            </a:lvl6pPr>
            <a:lvl7pPr algn="ctr">
              <a:defRPr sz="1575" b="0">
                <a:solidFill>
                  <a:srgbClr val="132641"/>
                </a:solidFill>
                <a:latin typeface="Arial"/>
                <a:ea typeface="Arial"/>
                <a:cs typeface="Arial"/>
              </a:defRPr>
            </a:lvl7pPr>
            <a:lvl8pPr algn="ctr">
              <a:defRPr sz="1575" b="0">
                <a:solidFill>
                  <a:srgbClr val="132641"/>
                </a:solidFill>
                <a:latin typeface="Arial"/>
                <a:ea typeface="Arial"/>
                <a:cs typeface="Arial"/>
              </a:defRPr>
            </a:lvl8pPr>
            <a:lvl9pPr algn="ctr">
              <a:defRPr sz="1575" b="0">
                <a:solidFill>
                  <a:srgbClr val="132641"/>
                </a:solidFill>
                <a:latin typeface="Arial"/>
                <a:ea typeface="Arial"/>
                <a:cs typeface="Arial"/>
              </a:defRPr>
            </a:lvl9pPr>
          </a:lstStyle>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core.pipeline</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Skeleton / Graph</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Traits / Export</a:t>
            </a:r>
          </a:p>
        </p:txBody>
      </p:sp>
      <p:cxnSp>
        <p:nvCxnSpPr>
          <p:cNvPr id="27" name="">
            <a:extLst xmlns:a="http://schemas.openxmlformats.org/drawingml/2006/main">
              <a:ext uri="{FF2B5EF4-FFF2-40B4-BE49-F238E27FC236}">
                <a16:creationId xmlns:a16="http://schemas.microsoft.com/office/drawing/2014/main" id="{BFBEC769-6DE4-47F6-BD28-709920B4879B}"/>
              </a:ext>
            </a:extLst>
          </p:cNvPr>
          <p:cNvCxnSpPr>
            <a:stCxn xmlns:a="http://schemas.openxmlformats.org/drawingml/2006/main" id="8" idx="2"/>
            <a:endCxn xmlns:a="http://schemas.openxmlformats.org/drawingml/2006/main" id="23" idx="0"/>
          </p:cNvCxnSpPr>
          <p:nvPr/>
        </p:nvCxnSpPr>
        <p:spPr>
          <a:xfrm xmlns:a="http://schemas.openxmlformats.org/drawingml/2006/main">
            <a:off x="5734050" y="3933825"/>
            <a:ext cx="1338263" cy="323850"/>
          </a:xfrm>
          <a:prstGeom xmlns:a="http://schemas.openxmlformats.org/drawingml/2006/main" prst="bentConnector4">
            <a:avLst>
              <a:gd name="adj1" fmla="val 0"/>
              <a:gd name="adj2" fmla="val 50000"/>
            </a:avLst>
          </a:prstGeom>
          <a:ln xmlns:a="http://schemas.openxmlformats.org/drawingml/2006/main" w="17145">
            <a:solidFill>
              <a:srgbClr val="132641"/>
            </a:solidFill>
            <a:tailEnd type="triangle" w="sm" len="sm"/>
          </a:ln>
        </p:spPr>
      </p:cxnSp>
      <p:cxnSp>
        <p:nvCxnSpPr>
          <p:cNvPr id="28" name="">
            <a:extLst xmlns:a="http://schemas.openxmlformats.org/drawingml/2006/main">
              <a:ext uri="{FF2B5EF4-FFF2-40B4-BE49-F238E27FC236}">
                <a16:creationId xmlns:a16="http://schemas.microsoft.com/office/drawing/2014/main" id="{EFA0E433-EFEE-41D3-AF36-530BF2CD627C}"/>
              </a:ext>
            </a:extLst>
          </p:cNvPr>
          <p:cNvCxnSpPr>
            <a:stCxn xmlns:a="http://schemas.openxmlformats.org/drawingml/2006/main" id="25" idx="2"/>
            <a:endCxn xmlns:a="http://schemas.openxmlformats.org/drawingml/2006/main" id="26" idx="0"/>
          </p:cNvCxnSpPr>
          <p:nvPr/>
        </p:nvCxnSpPr>
        <p:spPr>
          <a:xfrm xmlns:a="http://schemas.openxmlformats.org/drawingml/2006/main">
            <a:off x="7072313" y="5238750"/>
            <a:ext cx="0" cy="314325"/>
          </a:xfrm>
          <a:prstGeom xmlns:a="http://schemas.openxmlformats.org/drawingml/2006/main" prst="straightConnector1">
            <a:avLst/>
          </a:prstGeom>
          <a:ln xmlns:a="http://schemas.openxmlformats.org/drawingml/2006/main" w="17145">
            <a:solidFill>
              <a:srgbClr val="132641"/>
            </a:solidFill>
            <a:tailEnd type="triangle" w="sm" len="sm"/>
          </a:ln>
        </p:spPr>
      </p:cxnSp>
      <p:sp>
        <p:nvSpPr>
          <p:cNvPr id="29" name="Training-group">
            <a:extLst xmlns:a="http://schemas.openxmlformats.org/drawingml/2006/main">
              <a:ext uri="{FF2B5EF4-FFF2-40B4-BE49-F238E27FC236}">
                <a16:creationId xmlns:a16="http://schemas.microsoft.com/office/drawing/2014/main" id="{F61B071E-B981-4784-99C4-5C00CD3A0465}"/>
              </a:ext>
            </a:extLst>
          </p:cNvPr>
          <p:cNvSpPr>
            <a:spLocks xmlns:a="http://schemas.openxmlformats.org/drawingml/2006/main" noGrp="1"/>
          </p:cNvSpPr>
          <p:nvPr/>
        </p:nvSpPr>
        <p:spPr>
          <a:xfrm xmlns:a="http://schemas.openxmlformats.org/drawingml/2006/main">
            <a:off x="8486775" y="4257675"/>
            <a:ext cx="2524125" cy="2524125"/>
          </a:xfrm>
          <a:prstGeom xmlns:a="http://schemas.openxmlformats.org/drawingml/2006/main" prst="roundRect">
            <a:avLst>
              <a:gd name="adj" fmla="val 2642"/>
            </a:avLst>
          </a:prstGeom>
          <a:solidFill xmlns:a="http://schemas.openxmlformats.org/drawingml/2006/main">
            <a:srgbClr val="F5F9FE"/>
          </a:solidFill>
          <a:ln xmlns:a="http://schemas.openxmlformats.org/drawingml/2006/main" w="13335">
            <a:solidFill>
              <a:srgbClr val="6899C9"/>
            </a:solidFill>
          </a:ln>
        </p:spPr>
      </p:sp>
      <p:sp>
        <p:nvSpPr>
          <p:cNvPr id="30" name="Training-heading">
            <a:extLst xmlns:a="http://schemas.openxmlformats.org/drawingml/2006/main">
              <a:ext uri="{FF2B5EF4-FFF2-40B4-BE49-F238E27FC236}">
                <a16:creationId xmlns:a16="http://schemas.microsoft.com/office/drawing/2014/main" id="{69CD6C85-17B3-4C4E-BA25-0D73A54A93EC}"/>
              </a:ext>
            </a:extLst>
          </p:cNvPr>
          <p:cNvSpPr>
            <a:spLocks xmlns:a="http://schemas.openxmlformats.org/drawingml/2006/main" noGrp="1"/>
          </p:cNvSpPr>
          <p:nvPr/>
        </p:nvSpPr>
        <p:spPr>
          <a:xfrm xmlns:a="http://schemas.openxmlformats.org/drawingml/2006/main">
            <a:off x="8543925" y="4333875"/>
            <a:ext cx="2409825" cy="304800"/>
          </a:xfrm>
          <a:prstGeom xmlns:a="http://schemas.openxmlformats.org/drawingml/2006/main" prst="roundRect">
            <a:avLst>
              <a:gd name="adj" fmla="val 21875"/>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Training</a:t>
            </a:r>
          </a:p>
        </p:txBody>
      </p:sp>
      <p:sp>
        <p:nvSpPr>
          <p:cNvPr id="31" name="Training-facade">
            <a:extLst xmlns:a="http://schemas.openxmlformats.org/drawingml/2006/main">
              <a:ext uri="{FF2B5EF4-FFF2-40B4-BE49-F238E27FC236}">
                <a16:creationId xmlns:a16="http://schemas.microsoft.com/office/drawing/2014/main" id="{9670995F-2107-49DF-9D4E-F45329B66295}"/>
              </a:ext>
            </a:extLst>
          </p:cNvPr>
          <p:cNvSpPr>
            <a:spLocks xmlns:a="http://schemas.openxmlformats.org/drawingml/2006/main" noGrp="1"/>
          </p:cNvSpPr>
          <p:nvPr/>
        </p:nvSpPr>
        <p:spPr>
          <a:xfrm xmlns:a="http://schemas.openxmlformats.org/drawingml/2006/main">
            <a:off x="8582025" y="4791075"/>
            <a:ext cx="2333625" cy="447675"/>
          </a:xfrm>
          <a:prstGeom xmlns:a="http://schemas.openxmlformats.org/drawingml/2006/main" prst="roundRect">
            <a:avLst>
              <a:gd name="adj" fmla="val 14894"/>
            </a:avLst>
          </a:prstGeom>
          <a:solidFill xmlns:a="http://schemas.openxmlformats.org/drawingml/2006/main">
            <a:srgbClr val="E6F1FC"/>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1">
                <a:solidFill>
                  <a:srgbClr val="132641"/>
                </a:solidFill>
                <a:latin typeface="Arial"/>
                <a:ea typeface="Arial"/>
                <a:cs typeface="Arial"/>
              </a:defRPr>
            </a:defPPr>
            <a:lvl1pPr algn="ctr">
              <a:defRPr sz="1575" b="1">
                <a:solidFill>
                  <a:srgbClr val="132641"/>
                </a:solidFill>
                <a:latin typeface="Arial"/>
                <a:ea typeface="Arial"/>
                <a:cs typeface="Arial"/>
              </a:defRPr>
            </a:lvl1pPr>
            <a:lvl2pPr algn="ctr">
              <a:defRPr sz="1575" b="1">
                <a:solidFill>
                  <a:srgbClr val="132641"/>
                </a:solidFill>
                <a:latin typeface="Arial"/>
                <a:ea typeface="Arial"/>
                <a:cs typeface="Arial"/>
              </a:defRPr>
            </a:lvl2pPr>
            <a:lvl3pPr algn="ctr">
              <a:defRPr sz="1575" b="1">
                <a:solidFill>
                  <a:srgbClr val="132641"/>
                </a:solidFill>
                <a:latin typeface="Arial"/>
                <a:ea typeface="Arial"/>
                <a:cs typeface="Arial"/>
              </a:defRPr>
            </a:lvl3pPr>
            <a:lvl4pPr algn="ctr">
              <a:defRPr sz="1575" b="1">
                <a:solidFill>
                  <a:srgbClr val="132641"/>
                </a:solidFill>
                <a:latin typeface="Arial"/>
                <a:ea typeface="Arial"/>
                <a:cs typeface="Arial"/>
              </a:defRPr>
            </a:lvl4pPr>
            <a:lvl5pPr algn="ctr">
              <a:defRPr sz="1575" b="1">
                <a:solidFill>
                  <a:srgbClr val="132641"/>
                </a:solidFill>
                <a:latin typeface="Arial"/>
                <a:ea typeface="Arial"/>
                <a:cs typeface="Arial"/>
              </a:defRPr>
            </a:lvl5pPr>
            <a:lvl6pPr algn="ctr">
              <a:defRPr sz="1575" b="1">
                <a:solidFill>
                  <a:srgbClr val="132641"/>
                </a:solidFill>
                <a:latin typeface="Arial"/>
                <a:ea typeface="Arial"/>
                <a:cs typeface="Arial"/>
              </a:defRPr>
            </a:lvl6pPr>
            <a:lvl7pPr algn="ctr">
              <a:defRPr sz="1575" b="1">
                <a:solidFill>
                  <a:srgbClr val="132641"/>
                </a:solidFill>
                <a:latin typeface="Arial"/>
                <a:ea typeface="Arial"/>
                <a:cs typeface="Arial"/>
              </a:defRPr>
            </a:lvl7pPr>
            <a:lvl8pPr algn="ctr">
              <a:defRPr sz="1575" b="1">
                <a:solidFill>
                  <a:srgbClr val="132641"/>
                </a:solidFill>
                <a:latin typeface="Arial"/>
                <a:ea typeface="Arial"/>
                <a:cs typeface="Arial"/>
              </a:defRPr>
            </a:lvl8pPr>
            <a:lvl9pPr algn="ctr">
              <a:defRPr sz="1575" b="1">
                <a:solidFill>
                  <a:srgbClr val="132641"/>
                </a:solidFill>
                <a:latin typeface="Arial"/>
                <a:ea typeface="Arial"/>
                <a:cs typeface="Arial"/>
              </a:defRPr>
            </a:lvl9pPr>
          </a:lstStyle>
          <a:p xmlns:a="http://schemas.openxmlformats.org/drawingml/2006/main">
            <a:pPr algn="ctr">
              <a:defRPr sz="1575" b="1">
                <a:solidFill>
                  <a:srgbClr val="132641"/>
                </a:solidFill>
                <a:latin typeface="Arial"/>
                <a:ea typeface="Arial"/>
                <a:cs typeface="Arial"/>
              </a:defRPr>
            </a:pPr>
            <a:r>
              <a:rPr sz="1575" b="1">
                <a:solidFill>
                  <a:srgbClr val="132641"/>
                </a:solidFill>
                <a:latin typeface="Arial"/>
                <a:ea typeface="Arial"/>
                <a:cs typeface="Arial"/>
              </a:rPr>
              <a:t>TrainingFacade</a:t>
            </a:r>
          </a:p>
        </p:txBody>
      </p:sp>
      <p:sp>
        <p:nvSpPr>
          <p:cNvPr id="32" name="Training-engine">
            <a:extLst xmlns:a="http://schemas.openxmlformats.org/drawingml/2006/main">
              <a:ext uri="{FF2B5EF4-FFF2-40B4-BE49-F238E27FC236}">
                <a16:creationId xmlns:a16="http://schemas.microsoft.com/office/drawing/2014/main" id="{F89C198A-3064-4845-BF25-E8B8201AF77B}"/>
              </a:ext>
            </a:extLst>
          </p:cNvPr>
          <p:cNvSpPr>
            <a:spLocks xmlns:a="http://schemas.openxmlformats.org/drawingml/2006/main" noGrp="1"/>
          </p:cNvSpPr>
          <p:nvPr/>
        </p:nvSpPr>
        <p:spPr>
          <a:xfrm xmlns:a="http://schemas.openxmlformats.org/drawingml/2006/main">
            <a:off x="8582025" y="5553075"/>
            <a:ext cx="2333625" cy="1019175"/>
          </a:xfrm>
          <a:prstGeom xmlns:a="http://schemas.openxmlformats.org/drawingml/2006/main" prst="roundRect">
            <a:avLst>
              <a:gd name="adj" fmla="val 6542"/>
            </a:avLst>
          </a:prstGeom>
          <a:solidFill xmlns:a="http://schemas.openxmlformats.org/drawingml/2006/main">
            <a:srgbClr val="FFFFFF"/>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575" b="0">
                <a:solidFill>
                  <a:srgbClr val="132641"/>
                </a:solidFill>
                <a:latin typeface="Arial"/>
                <a:ea typeface="Arial"/>
                <a:cs typeface="Arial"/>
              </a:defRPr>
            </a:defPPr>
            <a:lvl1pPr algn="ctr">
              <a:defRPr sz="1575" b="0">
                <a:solidFill>
                  <a:srgbClr val="132641"/>
                </a:solidFill>
                <a:latin typeface="Arial"/>
                <a:ea typeface="Arial"/>
                <a:cs typeface="Arial"/>
              </a:defRPr>
            </a:lvl1pPr>
            <a:lvl2pPr algn="ctr">
              <a:defRPr sz="1575" b="0">
                <a:solidFill>
                  <a:srgbClr val="132641"/>
                </a:solidFill>
                <a:latin typeface="Arial"/>
                <a:ea typeface="Arial"/>
                <a:cs typeface="Arial"/>
              </a:defRPr>
            </a:lvl2pPr>
            <a:lvl3pPr algn="ctr">
              <a:defRPr sz="1575" b="0">
                <a:solidFill>
                  <a:srgbClr val="132641"/>
                </a:solidFill>
                <a:latin typeface="Arial"/>
                <a:ea typeface="Arial"/>
                <a:cs typeface="Arial"/>
              </a:defRPr>
            </a:lvl3pPr>
            <a:lvl4pPr algn="ctr">
              <a:defRPr sz="1575" b="0">
                <a:solidFill>
                  <a:srgbClr val="132641"/>
                </a:solidFill>
                <a:latin typeface="Arial"/>
                <a:ea typeface="Arial"/>
                <a:cs typeface="Arial"/>
              </a:defRPr>
            </a:lvl4pPr>
            <a:lvl5pPr algn="ctr">
              <a:defRPr sz="1575" b="0">
                <a:solidFill>
                  <a:srgbClr val="132641"/>
                </a:solidFill>
                <a:latin typeface="Arial"/>
                <a:ea typeface="Arial"/>
                <a:cs typeface="Arial"/>
              </a:defRPr>
            </a:lvl5pPr>
            <a:lvl6pPr algn="ctr">
              <a:defRPr sz="1575" b="0">
                <a:solidFill>
                  <a:srgbClr val="132641"/>
                </a:solidFill>
                <a:latin typeface="Arial"/>
                <a:ea typeface="Arial"/>
                <a:cs typeface="Arial"/>
              </a:defRPr>
            </a:lvl6pPr>
            <a:lvl7pPr algn="ctr">
              <a:defRPr sz="1575" b="0">
                <a:solidFill>
                  <a:srgbClr val="132641"/>
                </a:solidFill>
                <a:latin typeface="Arial"/>
                <a:ea typeface="Arial"/>
                <a:cs typeface="Arial"/>
              </a:defRPr>
            </a:lvl7pPr>
            <a:lvl8pPr algn="ctr">
              <a:defRPr sz="1575" b="0">
                <a:solidFill>
                  <a:srgbClr val="132641"/>
                </a:solidFill>
                <a:latin typeface="Arial"/>
                <a:ea typeface="Arial"/>
                <a:cs typeface="Arial"/>
              </a:defRPr>
            </a:lvl8pPr>
            <a:lvl9pPr algn="ctr">
              <a:defRPr sz="1575" b="0">
                <a:solidFill>
                  <a:srgbClr val="132641"/>
                </a:solidFill>
                <a:latin typeface="Arial"/>
                <a:ea typeface="Arial"/>
                <a:cs typeface="Arial"/>
              </a:defRPr>
            </a:lvl9pPr>
          </a:lstStyle>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train.py / Dataset</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Losses / Metrics</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Local PyTorch training</a:t>
            </a:r>
          </a:p>
        </p:txBody>
      </p:sp>
      <p:cxnSp>
        <p:nvCxnSpPr>
          <p:cNvPr id="33" name="">
            <a:extLst xmlns:a="http://schemas.openxmlformats.org/drawingml/2006/main">
              <a:ext uri="{FF2B5EF4-FFF2-40B4-BE49-F238E27FC236}">
                <a16:creationId xmlns:a16="http://schemas.microsoft.com/office/drawing/2014/main" id="{B352A160-5E05-4016-98D2-9256EF18A514}"/>
              </a:ext>
            </a:extLst>
          </p:cNvPr>
          <p:cNvCxnSpPr>
            <a:stCxn xmlns:a="http://schemas.openxmlformats.org/drawingml/2006/main" id="8" idx="2"/>
            <a:endCxn xmlns:a="http://schemas.openxmlformats.org/drawingml/2006/main" id="29" idx="0"/>
          </p:cNvCxnSpPr>
          <p:nvPr/>
        </p:nvCxnSpPr>
        <p:spPr>
          <a:xfrm xmlns:a="http://schemas.openxmlformats.org/drawingml/2006/main">
            <a:off x="5734050" y="3933825"/>
            <a:ext cx="4014788" cy="323850"/>
          </a:xfrm>
          <a:prstGeom xmlns:a="http://schemas.openxmlformats.org/drawingml/2006/main" prst="bentConnector4">
            <a:avLst>
              <a:gd name="adj1" fmla="val 0"/>
              <a:gd name="adj2" fmla="val 50000"/>
            </a:avLst>
          </a:prstGeom>
          <a:ln xmlns:a="http://schemas.openxmlformats.org/drawingml/2006/main" w="17145">
            <a:solidFill>
              <a:srgbClr val="132641"/>
            </a:solidFill>
            <a:tailEnd type="triangle" w="sm" len="sm"/>
          </a:ln>
        </p:spPr>
      </p:cxnSp>
      <p:cxnSp>
        <p:nvCxnSpPr>
          <p:cNvPr id="34" name="">
            <a:extLst xmlns:a="http://schemas.openxmlformats.org/drawingml/2006/main">
              <a:ext uri="{FF2B5EF4-FFF2-40B4-BE49-F238E27FC236}">
                <a16:creationId xmlns:a16="http://schemas.microsoft.com/office/drawing/2014/main" id="{CFB47959-34BF-4BF9-9A73-ABC5E66F7681}"/>
              </a:ext>
            </a:extLst>
          </p:cNvPr>
          <p:cNvCxnSpPr>
            <a:stCxn xmlns:a="http://schemas.openxmlformats.org/drawingml/2006/main" id="31" idx="2"/>
            <a:endCxn xmlns:a="http://schemas.openxmlformats.org/drawingml/2006/main" id="32" idx="0"/>
          </p:cNvCxnSpPr>
          <p:nvPr/>
        </p:nvCxnSpPr>
        <p:spPr>
          <a:xfrm xmlns:a="http://schemas.openxmlformats.org/drawingml/2006/main">
            <a:off x="9748838" y="5238750"/>
            <a:ext cx="0" cy="314325"/>
          </a:xfrm>
          <a:prstGeom xmlns:a="http://schemas.openxmlformats.org/drawingml/2006/main" prst="straightConnector1">
            <a:avLst/>
          </a:prstGeom>
          <a:ln xmlns:a="http://schemas.openxmlformats.org/drawingml/2006/main" w="17145">
            <a:solidFill>
              <a:srgbClr val="132641"/>
            </a:solidFill>
            <a:tailEnd type="triangle" w="sm" len="sm"/>
          </a:ln>
        </p:spPr>
      </p:cxnSp>
      <p:sp>
        <p:nvSpPr>
          <p:cNvPr id="35" name="shared-models">
            <a:extLst xmlns:a="http://schemas.openxmlformats.org/drawingml/2006/main">
              <a:ext uri="{FF2B5EF4-FFF2-40B4-BE49-F238E27FC236}">
                <a16:creationId xmlns:a16="http://schemas.microsoft.com/office/drawing/2014/main" id="{82380D16-E6C5-4600-89EF-2E1CB982D4F2}"/>
              </a:ext>
            </a:extLst>
          </p:cNvPr>
          <p:cNvSpPr>
            <a:spLocks xmlns:a="http://schemas.openxmlformats.org/drawingml/2006/main" noGrp="1"/>
          </p:cNvSpPr>
          <p:nvPr/>
        </p:nvSpPr>
        <p:spPr>
          <a:xfrm xmlns:a="http://schemas.openxmlformats.org/drawingml/2006/main">
            <a:off x="3257550" y="7181850"/>
            <a:ext cx="5257800" cy="609600"/>
          </a:xfrm>
          <a:prstGeom xmlns:a="http://schemas.openxmlformats.org/drawingml/2006/main" prst="roundRect">
            <a:avLst>
              <a:gd name="adj" fmla="val 10938"/>
            </a:avLst>
          </a:prstGeom>
          <a:solidFill xmlns:a="http://schemas.openxmlformats.org/drawingml/2006/main">
            <a:srgbClr val="E6F1FC"/>
          </a:solidFill>
          <a:ln xmlns:a="http://schemas.openxmlformats.org/drawingml/2006/main" w="13335">
            <a:solidFill>
              <a:srgbClr val="6899C9"/>
            </a:solidFill>
          </a:ln>
        </p:spPr>
        <p:txBody>
          <a:bodyPr xmlns:a="http://schemas.openxmlformats.org/drawingml/2006/main" wrap="none" lIns="66675" tIns="66675" rIns="66675" bIns="66675" anchor="ctr">
            <a:noAutofit/>
          </a:bodyPr>
          <a:lstStyle xmlns:a="http://schemas.openxmlformats.org/drawingml/2006/main">
            <a:defPPr algn="ctr">
              <a:defRPr sz="1650" b="1">
                <a:solidFill>
                  <a:srgbClr val="132641"/>
                </a:solidFill>
                <a:latin typeface="Arial"/>
                <a:ea typeface="Arial"/>
                <a:cs typeface="Arial"/>
              </a:defRPr>
            </a:defPPr>
            <a:lvl1pPr algn="ctr">
              <a:defRPr sz="1650" b="1">
                <a:solidFill>
                  <a:srgbClr val="132641"/>
                </a:solidFill>
                <a:latin typeface="Arial"/>
                <a:ea typeface="Arial"/>
                <a:cs typeface="Arial"/>
              </a:defRPr>
            </a:lvl1pPr>
            <a:lvl2pPr algn="ctr">
              <a:defRPr sz="1650" b="1">
                <a:solidFill>
                  <a:srgbClr val="132641"/>
                </a:solidFill>
                <a:latin typeface="Arial"/>
                <a:ea typeface="Arial"/>
                <a:cs typeface="Arial"/>
              </a:defRPr>
            </a:lvl2pPr>
            <a:lvl3pPr algn="ctr">
              <a:defRPr sz="1650" b="1">
                <a:solidFill>
                  <a:srgbClr val="132641"/>
                </a:solidFill>
                <a:latin typeface="Arial"/>
                <a:ea typeface="Arial"/>
                <a:cs typeface="Arial"/>
              </a:defRPr>
            </a:lvl3pPr>
            <a:lvl4pPr algn="ctr">
              <a:defRPr sz="1650" b="1">
                <a:solidFill>
                  <a:srgbClr val="132641"/>
                </a:solidFill>
                <a:latin typeface="Arial"/>
                <a:ea typeface="Arial"/>
                <a:cs typeface="Arial"/>
              </a:defRPr>
            </a:lvl4pPr>
            <a:lvl5pPr algn="ctr">
              <a:defRPr sz="1650" b="1">
                <a:solidFill>
                  <a:srgbClr val="132641"/>
                </a:solidFill>
                <a:latin typeface="Arial"/>
                <a:ea typeface="Arial"/>
                <a:cs typeface="Arial"/>
              </a:defRPr>
            </a:lvl5pPr>
            <a:lvl6pPr algn="ctr">
              <a:defRPr sz="1650" b="1">
                <a:solidFill>
                  <a:srgbClr val="132641"/>
                </a:solidFill>
                <a:latin typeface="Arial"/>
                <a:ea typeface="Arial"/>
                <a:cs typeface="Arial"/>
              </a:defRPr>
            </a:lvl6pPr>
            <a:lvl7pPr algn="ctr">
              <a:defRPr sz="1650" b="1">
                <a:solidFill>
                  <a:srgbClr val="132641"/>
                </a:solidFill>
                <a:latin typeface="Arial"/>
                <a:ea typeface="Arial"/>
                <a:cs typeface="Arial"/>
              </a:defRPr>
            </a:lvl7pPr>
            <a:lvl8pPr algn="ctr">
              <a:defRPr sz="1650" b="1">
                <a:solidFill>
                  <a:srgbClr val="132641"/>
                </a:solidFill>
                <a:latin typeface="Arial"/>
                <a:ea typeface="Arial"/>
                <a:cs typeface="Arial"/>
              </a:defRPr>
            </a:lvl8pPr>
            <a:lvl9pPr algn="ctr">
              <a:defRPr sz="1650" b="1">
                <a:solidFill>
                  <a:srgbClr val="132641"/>
                </a:solidFill>
                <a:latin typeface="Arial"/>
                <a:ea typeface="Arial"/>
                <a:cs typeface="Arial"/>
              </a:defRPr>
            </a:lvl9pPr>
          </a:lstStyle>
          <a:p xmlns:a="http://schemas.openxmlformats.org/drawingml/2006/main">
            <a:pPr algn="ctr">
              <a:defRPr sz="1650" b="1">
                <a:solidFill>
                  <a:srgbClr val="132641"/>
                </a:solidFill>
                <a:latin typeface="Arial"/>
                <a:ea typeface="Arial"/>
                <a:cs typeface="Arial"/>
              </a:defRPr>
            </a:pPr>
            <a:r>
              <a:rPr sz="1650" b="1">
                <a:solidFill>
                  <a:srgbClr val="132641"/>
                </a:solidFill>
                <a:latin typeface="Arial"/>
                <a:ea typeface="Arial"/>
                <a:cs typeface="Arial"/>
              </a:rPr>
              <a:t>models/: shared PyTorch architectures</a:t>
            </a:r>
          </a:p>
          <a:p xmlns:a="http://schemas.openxmlformats.org/drawingml/2006/main">
            <a:pPr algn="ctr">
              <a:defRPr sz="1650" b="1">
                <a:solidFill>
                  <a:srgbClr val="132641"/>
                </a:solidFill>
                <a:latin typeface="Arial"/>
                <a:ea typeface="Arial"/>
                <a:cs typeface="Arial"/>
              </a:defRPr>
            </a:pPr>
            <a:r>
              <a:rPr sz="1650" b="1">
                <a:solidFill>
                  <a:srgbClr val="132641"/>
                </a:solidFill>
                <a:latin typeface="Arial"/>
                <a:ea typeface="Arial"/>
                <a:cs typeface="Arial"/>
              </a:rPr>
              <a:t>UNet, Transformer, DINOv3</a:t>
            </a:r>
          </a:p>
        </p:txBody>
      </p:sp>
      <p:cxnSp>
        <p:nvCxnSpPr>
          <p:cNvPr id="36" name="">
            <a:extLst xmlns:a="http://schemas.openxmlformats.org/drawingml/2006/main">
              <a:ext uri="{FF2B5EF4-FFF2-40B4-BE49-F238E27FC236}">
                <a16:creationId xmlns:a16="http://schemas.microsoft.com/office/drawing/2014/main" id="{780CD80B-6259-45C9-BDEF-D79CEA0FEA10}"/>
              </a:ext>
            </a:extLst>
          </p:cNvPr>
          <p:cNvCxnSpPr>
            <a:stCxn xmlns:a="http://schemas.openxmlformats.org/drawingml/2006/main" id="20" idx="2"/>
            <a:endCxn xmlns:a="http://schemas.openxmlformats.org/drawingml/2006/main" id="35" idx="0"/>
          </p:cNvCxnSpPr>
          <p:nvPr/>
        </p:nvCxnSpPr>
        <p:spPr>
          <a:xfrm xmlns:a="http://schemas.openxmlformats.org/drawingml/2006/main">
            <a:off x="4395788" y="6572250"/>
            <a:ext cx="1490663" cy="609600"/>
          </a:xfrm>
          <a:prstGeom xmlns:a="http://schemas.openxmlformats.org/drawingml/2006/main" prst="bentConnector4">
            <a:avLst>
              <a:gd name="adj1" fmla="val 0"/>
              <a:gd name="adj2" fmla="val 50000"/>
            </a:avLst>
          </a:prstGeom>
          <a:ln xmlns:a="http://schemas.openxmlformats.org/drawingml/2006/main" w="17145">
            <a:solidFill>
              <a:srgbClr val="132641"/>
            </a:solidFill>
            <a:tailEnd type="triangle" w="sm" len="sm"/>
          </a:ln>
        </p:spPr>
      </p:cxnSp>
      <p:cxnSp>
        <p:nvCxnSpPr>
          <p:cNvPr id="37" name="">
            <a:extLst xmlns:a="http://schemas.openxmlformats.org/drawingml/2006/main">
              <a:ext uri="{FF2B5EF4-FFF2-40B4-BE49-F238E27FC236}">
                <a16:creationId xmlns:a16="http://schemas.microsoft.com/office/drawing/2014/main" id="{BC6409E9-444E-48E3-BAA5-025A81218043}"/>
              </a:ext>
            </a:extLst>
          </p:cNvPr>
          <p:cNvCxnSpPr>
            <a:stCxn xmlns:a="http://schemas.openxmlformats.org/drawingml/2006/main" id="32" idx="2"/>
            <a:endCxn xmlns:a="http://schemas.openxmlformats.org/drawingml/2006/main" id="35" idx="0"/>
          </p:cNvCxnSpPr>
          <p:nvPr/>
        </p:nvCxnSpPr>
        <p:spPr>
          <a:xfrm xmlns:a="http://schemas.openxmlformats.org/drawingml/2006/main" flipH="1">
            <a:off x="5886450" y="6572250"/>
            <a:ext cx="3862388" cy="609600"/>
          </a:xfrm>
          <a:prstGeom xmlns:a="http://schemas.openxmlformats.org/drawingml/2006/main" prst="bentConnector4">
            <a:avLst>
              <a:gd name="adj1" fmla="val 0"/>
              <a:gd name="adj2" fmla="val 50000"/>
            </a:avLst>
          </a:prstGeom>
          <a:ln xmlns:a="http://schemas.openxmlformats.org/drawingml/2006/main" w="17145">
            <a:solidFill>
              <a:srgbClr val="132641"/>
            </a:solidFill>
            <a:tailEnd type="triangle" w="sm" len="sm"/>
          </a:ln>
        </p:spPr>
      </p:cxnSp>
      <p:sp>
        <p:nvSpPr>
          <p:cNvPr id="38" name="local-files">
            <a:extLst xmlns:a="http://schemas.openxmlformats.org/drawingml/2006/main">
              <a:ext uri="{FF2B5EF4-FFF2-40B4-BE49-F238E27FC236}">
                <a16:creationId xmlns:a16="http://schemas.microsoft.com/office/drawing/2014/main" id="{A20D12BF-0589-4629-BBCF-97696E2B5ACC}"/>
              </a:ext>
            </a:extLst>
          </p:cNvPr>
          <p:cNvSpPr>
            <a:spLocks xmlns:a="http://schemas.openxmlformats.org/drawingml/2006/main" noGrp="1"/>
          </p:cNvSpPr>
          <p:nvPr/>
        </p:nvSpPr>
        <p:spPr>
          <a:xfrm xmlns:a="http://schemas.openxmlformats.org/drawingml/2006/main">
            <a:off x="457200" y="7934325"/>
            <a:ext cx="10553700" cy="314325"/>
          </a:xfrm>
          <a:prstGeom xmlns:a="http://schemas.openxmlformats.org/drawingml/2006/main" prst="roundRect">
            <a:avLst>
              <a:gd name="adj" fmla="val 21212"/>
            </a:avLst>
          </a:prstGeom>
          <a:solidFill xmlns:a="http://schemas.openxmlformats.org/drawingml/2006/main">
            <a:srgbClr val="F1F3F5"/>
          </a:solidFill>
          <a:ln xmlns:a="http://schemas.openxmlformats.org/drawingml/2006/main" w="13335">
            <a:solidFill>
              <a:srgbClr val="C7D0DC"/>
            </a:solidFill>
          </a:ln>
        </p:spPr>
        <p:txBody>
          <a:bodyPr xmlns:a="http://schemas.openxmlformats.org/drawingml/2006/main" wrap="none" lIns="66675" tIns="66675" rIns="66675" bIns="66675" anchor="ctr">
            <a:noAutofit/>
          </a:bodyPr>
          <a:lstStyle xmlns:a="http://schemas.openxmlformats.org/drawingml/2006/main">
            <a:defPPr algn="ctr">
              <a:defRPr sz="1200" b="0">
                <a:solidFill>
                  <a:srgbClr val="132641"/>
                </a:solidFill>
                <a:latin typeface="Arial"/>
                <a:ea typeface="Arial"/>
                <a:cs typeface="Arial"/>
              </a:defRPr>
            </a:defPPr>
            <a:lvl1pPr algn="ctr">
              <a:defRPr sz="1200" b="0">
                <a:solidFill>
                  <a:srgbClr val="132641"/>
                </a:solidFill>
                <a:latin typeface="Arial"/>
                <a:ea typeface="Arial"/>
                <a:cs typeface="Arial"/>
              </a:defRPr>
            </a:lvl1pPr>
            <a:lvl2pPr algn="ctr">
              <a:defRPr sz="1200" b="0">
                <a:solidFill>
                  <a:srgbClr val="132641"/>
                </a:solidFill>
                <a:latin typeface="Arial"/>
                <a:ea typeface="Arial"/>
                <a:cs typeface="Arial"/>
              </a:defRPr>
            </a:lvl2pPr>
            <a:lvl3pPr algn="ctr">
              <a:defRPr sz="1200" b="0">
                <a:solidFill>
                  <a:srgbClr val="132641"/>
                </a:solidFill>
                <a:latin typeface="Arial"/>
                <a:ea typeface="Arial"/>
                <a:cs typeface="Arial"/>
              </a:defRPr>
            </a:lvl3pPr>
            <a:lvl4pPr algn="ctr">
              <a:defRPr sz="1200" b="0">
                <a:solidFill>
                  <a:srgbClr val="132641"/>
                </a:solidFill>
                <a:latin typeface="Arial"/>
                <a:ea typeface="Arial"/>
                <a:cs typeface="Arial"/>
              </a:defRPr>
            </a:lvl4pPr>
            <a:lvl5pPr algn="ctr">
              <a:defRPr sz="1200" b="0">
                <a:solidFill>
                  <a:srgbClr val="132641"/>
                </a:solidFill>
                <a:latin typeface="Arial"/>
                <a:ea typeface="Arial"/>
                <a:cs typeface="Arial"/>
              </a:defRPr>
            </a:lvl5pPr>
            <a:lvl6pPr algn="ctr">
              <a:defRPr sz="1200" b="0">
                <a:solidFill>
                  <a:srgbClr val="132641"/>
                </a:solidFill>
                <a:latin typeface="Arial"/>
                <a:ea typeface="Arial"/>
                <a:cs typeface="Arial"/>
              </a:defRPr>
            </a:lvl6pPr>
            <a:lvl7pPr algn="ctr">
              <a:defRPr sz="1200" b="0">
                <a:solidFill>
                  <a:srgbClr val="132641"/>
                </a:solidFill>
                <a:latin typeface="Arial"/>
                <a:ea typeface="Arial"/>
                <a:cs typeface="Arial"/>
              </a:defRPr>
            </a:lvl7pPr>
            <a:lvl8pPr algn="ctr">
              <a:defRPr sz="1200" b="0">
                <a:solidFill>
                  <a:srgbClr val="132641"/>
                </a:solidFill>
                <a:latin typeface="Arial"/>
                <a:ea typeface="Arial"/>
                <a:cs typeface="Arial"/>
              </a:defRPr>
            </a:lvl8pPr>
            <a:lvl9pPr algn="ctr">
              <a:defRPr sz="1200" b="0">
                <a:solidFill>
                  <a:srgbClr val="132641"/>
                </a:solidFill>
                <a:latin typeface="Arial"/>
                <a:ea typeface="Arial"/>
                <a:cs typeface="Arial"/>
              </a:defRPr>
            </a:lvl9pPr>
          </a:lstStyle>
          <a:p xmlns:a="http://schemas.openxmlformats.org/drawingml/2006/main">
            <a:pPr algn="ctr">
              <a:defRPr sz="1200" b="0">
                <a:solidFill>
                  <a:srgbClr val="132641"/>
                </a:solidFill>
                <a:latin typeface="Arial"/>
                <a:ea typeface="Arial"/>
                <a:cs typeface="Arial"/>
              </a:defRPr>
            </a:pPr>
            <a:r>
              <a:rPr sz="1200" b="0">
                <a:solidFill>
                  <a:srgbClr val="132641"/>
                </a:solidFill>
                <a:latin typeface="Arial"/>
                <a:ea typeface="Arial"/>
                <a:cs typeface="Arial"/>
              </a:rPr>
              <a:t>Local files: datasets, checkpoints, masks, exported results</a:t>
            </a:r>
          </a:p>
          <a:p xmlns:a="http://schemas.openxmlformats.org/drawingml/2006/main">
            <a:pPr algn="ctr">
              <a:defRPr sz="1200" b="0">
                <a:solidFill>
                  <a:srgbClr val="132641"/>
                </a:solidFill>
                <a:latin typeface="Arial"/>
                <a:ea typeface="Arial"/>
                <a:cs typeface="Arial"/>
              </a:defRPr>
            </a:pPr>
            <a:r>
              <a:rPr sz="1200" b="0">
                <a:solidFill>
                  <a:srgbClr val="132641"/>
                </a:solidFill>
                <a:latin typeface="Arial"/>
                <a:ea typeface="Arial"/>
                <a:cs typeface="Arial"/>
              </a:rPr>
              <a:t>Shared utility: image_io.py (training and segmentation)</a:t>
            </a:r>
          </a:p>
        </p:txBody>
      </p:sp>
      <p:sp>
        <p:nvSpPr>
          <p:cNvPr id="39" name="server-entry">
            <a:extLst xmlns:a="http://schemas.openxmlformats.org/drawingml/2006/main">
              <a:ext uri="{FF2B5EF4-FFF2-40B4-BE49-F238E27FC236}">
                <a16:creationId xmlns:a16="http://schemas.microsoft.com/office/drawing/2014/main" id="{93FDC3AE-633D-4589-8817-8C1A4D2852C1}"/>
              </a:ext>
            </a:extLst>
          </p:cNvPr>
          <p:cNvSpPr>
            <a:spLocks xmlns:a="http://schemas.openxmlformats.org/drawingml/2006/main" noGrp="1"/>
          </p:cNvSpPr>
          <p:nvPr/>
        </p:nvSpPr>
        <p:spPr>
          <a:xfrm xmlns:a="http://schemas.openxmlformats.org/drawingml/2006/main">
            <a:off x="12096750" y="1504950"/>
            <a:ext cx="2724150" cy="514350"/>
          </a:xfrm>
          <a:prstGeom xmlns:a="http://schemas.openxmlformats.org/drawingml/2006/main" prst="roundRect">
            <a:avLst>
              <a:gd name="adj" fmla="val 12963"/>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run_server.py</a:t>
            </a:r>
          </a:p>
        </p:txBody>
      </p:sp>
      <p:sp>
        <p:nvSpPr>
          <p:cNvPr id="40" name="flask-api">
            <a:extLst xmlns:a="http://schemas.openxmlformats.org/drawingml/2006/main">
              <a:ext uri="{FF2B5EF4-FFF2-40B4-BE49-F238E27FC236}">
                <a16:creationId xmlns:a16="http://schemas.microsoft.com/office/drawing/2014/main" id="{1A97ACDC-EEE2-4606-AAD3-7F19C41A6A08}"/>
              </a:ext>
            </a:extLst>
          </p:cNvPr>
          <p:cNvSpPr>
            <a:spLocks xmlns:a="http://schemas.openxmlformats.org/drawingml/2006/main" noGrp="1"/>
          </p:cNvSpPr>
          <p:nvPr/>
        </p:nvSpPr>
        <p:spPr>
          <a:xfrm xmlns:a="http://schemas.openxmlformats.org/drawingml/2006/main">
            <a:off x="12096750" y="2400300"/>
            <a:ext cx="2724150" cy="542925"/>
          </a:xfrm>
          <a:prstGeom xmlns:a="http://schemas.openxmlformats.org/drawingml/2006/main" prst="roundRect">
            <a:avLst>
              <a:gd name="adj" fmla="val 12281"/>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800" b="1">
                <a:solidFill>
                  <a:srgbClr val="132641"/>
                </a:solidFill>
                <a:latin typeface="Arial"/>
                <a:ea typeface="Arial"/>
                <a:cs typeface="Arial"/>
              </a:defRPr>
            </a:defPPr>
            <a:lvl1pPr algn="ctr">
              <a:defRPr sz="1800" b="1">
                <a:solidFill>
                  <a:srgbClr val="132641"/>
                </a:solidFill>
                <a:latin typeface="Arial"/>
                <a:ea typeface="Arial"/>
                <a:cs typeface="Arial"/>
              </a:defRPr>
            </a:lvl1pPr>
            <a:lvl2pPr algn="ctr">
              <a:defRPr sz="1800" b="1">
                <a:solidFill>
                  <a:srgbClr val="132641"/>
                </a:solidFill>
                <a:latin typeface="Arial"/>
                <a:ea typeface="Arial"/>
                <a:cs typeface="Arial"/>
              </a:defRPr>
            </a:lvl2pPr>
            <a:lvl3pPr algn="ctr">
              <a:defRPr sz="1800" b="1">
                <a:solidFill>
                  <a:srgbClr val="132641"/>
                </a:solidFill>
                <a:latin typeface="Arial"/>
                <a:ea typeface="Arial"/>
                <a:cs typeface="Arial"/>
              </a:defRPr>
            </a:lvl3pPr>
            <a:lvl4pPr algn="ctr">
              <a:defRPr sz="1800" b="1">
                <a:solidFill>
                  <a:srgbClr val="132641"/>
                </a:solidFill>
                <a:latin typeface="Arial"/>
                <a:ea typeface="Arial"/>
                <a:cs typeface="Arial"/>
              </a:defRPr>
            </a:lvl4pPr>
            <a:lvl5pPr algn="ctr">
              <a:defRPr sz="1800" b="1">
                <a:solidFill>
                  <a:srgbClr val="132641"/>
                </a:solidFill>
                <a:latin typeface="Arial"/>
                <a:ea typeface="Arial"/>
                <a:cs typeface="Arial"/>
              </a:defRPr>
            </a:lvl5pPr>
            <a:lvl6pPr algn="ctr">
              <a:defRPr sz="1800" b="1">
                <a:solidFill>
                  <a:srgbClr val="132641"/>
                </a:solidFill>
                <a:latin typeface="Arial"/>
                <a:ea typeface="Arial"/>
                <a:cs typeface="Arial"/>
              </a:defRPr>
            </a:lvl6pPr>
            <a:lvl7pPr algn="ctr">
              <a:defRPr sz="1800" b="1">
                <a:solidFill>
                  <a:srgbClr val="132641"/>
                </a:solidFill>
                <a:latin typeface="Arial"/>
                <a:ea typeface="Arial"/>
                <a:cs typeface="Arial"/>
              </a:defRPr>
            </a:lvl7pPr>
            <a:lvl8pPr algn="ctr">
              <a:defRPr sz="1800" b="1">
                <a:solidFill>
                  <a:srgbClr val="132641"/>
                </a:solidFill>
                <a:latin typeface="Arial"/>
                <a:ea typeface="Arial"/>
                <a:cs typeface="Arial"/>
              </a:defRPr>
            </a:lvl8pPr>
            <a:lvl9pPr algn="ctr">
              <a:defRPr sz="1800" b="1">
                <a:solidFill>
                  <a:srgbClr val="132641"/>
                </a:solidFill>
                <a:latin typeface="Arial"/>
                <a:ea typeface="Arial"/>
                <a:cs typeface="Arial"/>
              </a:defRPr>
            </a:lvl9pPr>
          </a:lstStyle>
          <a:p xmlns:a="http://schemas.openxmlformats.org/drawingml/2006/main">
            <a:pPr algn="ctr">
              <a:defRPr sz="1800" b="1">
                <a:solidFill>
                  <a:srgbClr val="132641"/>
                </a:solidFill>
                <a:latin typeface="Arial"/>
                <a:ea typeface="Arial"/>
                <a:cs typeface="Arial"/>
              </a:defRPr>
            </a:pPr>
            <a:r>
              <a:rPr sz="1800" b="1">
                <a:solidFill>
                  <a:srgbClr val="132641"/>
                </a:solidFill>
                <a:latin typeface="Arial"/>
                <a:ea typeface="Arial"/>
                <a:cs typeface="Arial"/>
              </a:rPr>
              <a:t>Flask API /job</a:t>
            </a:r>
          </a:p>
        </p:txBody>
      </p:sp>
      <p:sp>
        <p:nvSpPr>
          <p:cNvPr id="41" name="job-thread">
            <a:extLst xmlns:a="http://schemas.openxmlformats.org/drawingml/2006/main">
              <a:ext uri="{FF2B5EF4-FFF2-40B4-BE49-F238E27FC236}">
                <a16:creationId xmlns:a16="http://schemas.microsoft.com/office/drawing/2014/main" id="{C91EC341-1979-40EC-82DC-7B345A50601E}"/>
              </a:ext>
            </a:extLst>
          </p:cNvPr>
          <p:cNvSpPr>
            <a:spLocks xmlns:a="http://schemas.openxmlformats.org/drawingml/2006/main" noGrp="1"/>
          </p:cNvSpPr>
          <p:nvPr/>
        </p:nvSpPr>
        <p:spPr>
          <a:xfrm xmlns:a="http://schemas.openxmlformats.org/drawingml/2006/main">
            <a:off x="12096750" y="3333750"/>
            <a:ext cx="2724150" cy="704850"/>
          </a:xfrm>
          <a:prstGeom xmlns:a="http://schemas.openxmlformats.org/drawingml/2006/main" prst="roundRect">
            <a:avLst>
              <a:gd name="adj" fmla="val 9459"/>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650" b="0">
                <a:solidFill>
                  <a:srgbClr val="132641"/>
                </a:solidFill>
                <a:latin typeface="Arial"/>
                <a:ea typeface="Arial"/>
                <a:cs typeface="Arial"/>
              </a:defRPr>
            </a:defPPr>
            <a:lvl1pPr algn="ctr">
              <a:defRPr sz="1650" b="0">
                <a:solidFill>
                  <a:srgbClr val="132641"/>
                </a:solidFill>
                <a:latin typeface="Arial"/>
                <a:ea typeface="Arial"/>
                <a:cs typeface="Arial"/>
              </a:defRPr>
            </a:lvl1pPr>
            <a:lvl2pPr algn="ctr">
              <a:defRPr sz="1650" b="0">
                <a:solidFill>
                  <a:srgbClr val="132641"/>
                </a:solidFill>
                <a:latin typeface="Arial"/>
                <a:ea typeface="Arial"/>
                <a:cs typeface="Arial"/>
              </a:defRPr>
            </a:lvl2pPr>
            <a:lvl3pPr algn="ctr">
              <a:defRPr sz="1650" b="0">
                <a:solidFill>
                  <a:srgbClr val="132641"/>
                </a:solidFill>
                <a:latin typeface="Arial"/>
                <a:ea typeface="Arial"/>
                <a:cs typeface="Arial"/>
              </a:defRPr>
            </a:lvl3pPr>
            <a:lvl4pPr algn="ctr">
              <a:defRPr sz="1650" b="0">
                <a:solidFill>
                  <a:srgbClr val="132641"/>
                </a:solidFill>
                <a:latin typeface="Arial"/>
                <a:ea typeface="Arial"/>
                <a:cs typeface="Arial"/>
              </a:defRPr>
            </a:lvl4pPr>
            <a:lvl5pPr algn="ctr">
              <a:defRPr sz="1650" b="0">
                <a:solidFill>
                  <a:srgbClr val="132641"/>
                </a:solidFill>
                <a:latin typeface="Arial"/>
                <a:ea typeface="Arial"/>
                <a:cs typeface="Arial"/>
              </a:defRPr>
            </a:lvl5pPr>
            <a:lvl6pPr algn="ctr">
              <a:defRPr sz="1650" b="0">
                <a:solidFill>
                  <a:srgbClr val="132641"/>
                </a:solidFill>
                <a:latin typeface="Arial"/>
                <a:ea typeface="Arial"/>
                <a:cs typeface="Arial"/>
              </a:defRPr>
            </a:lvl6pPr>
            <a:lvl7pPr algn="ctr">
              <a:defRPr sz="1650" b="0">
                <a:solidFill>
                  <a:srgbClr val="132641"/>
                </a:solidFill>
                <a:latin typeface="Arial"/>
                <a:ea typeface="Arial"/>
                <a:cs typeface="Arial"/>
              </a:defRPr>
            </a:lvl7pPr>
            <a:lvl8pPr algn="ctr">
              <a:defRPr sz="1650" b="0">
                <a:solidFill>
                  <a:srgbClr val="132641"/>
                </a:solidFill>
                <a:latin typeface="Arial"/>
                <a:ea typeface="Arial"/>
                <a:cs typeface="Arial"/>
              </a:defRPr>
            </a:lvl8pPr>
            <a:lvl9pPr algn="ctr">
              <a:defRPr sz="1650" b="0">
                <a:solidFill>
                  <a:srgbClr val="132641"/>
                </a:solidFill>
                <a:latin typeface="Arial"/>
                <a:ea typeface="Arial"/>
                <a:cs typeface="Arial"/>
              </a:defRPr>
            </a:lvl9pPr>
          </a:lstStyle>
          <a:p xmlns:a="http://schemas.openxmlformats.org/drawingml/2006/main">
            <a:pPr algn="ctr">
              <a:defRPr sz="1650" b="0">
                <a:solidFill>
                  <a:srgbClr val="132641"/>
                </a:solidFill>
                <a:latin typeface="Arial"/>
                <a:ea typeface="Arial"/>
                <a:cs typeface="Arial"/>
              </a:defRPr>
            </a:pPr>
            <a:r>
              <a:rPr sz="1650" b="0">
                <a:solidFill>
                  <a:srgbClr val="132641"/>
                </a:solidFill>
                <a:latin typeface="Arial"/>
                <a:ea typeface="Arial"/>
                <a:cs typeface="Arial"/>
              </a:rPr>
              <a:t>Background thread</a:t>
            </a:r>
          </a:p>
          <a:p xmlns:a="http://schemas.openxmlformats.org/drawingml/2006/main">
            <a:pPr algn="ctr">
              <a:defRPr sz="1650" b="0">
                <a:solidFill>
                  <a:srgbClr val="132641"/>
                </a:solidFill>
                <a:latin typeface="Arial"/>
                <a:ea typeface="Arial"/>
                <a:cs typeface="Arial"/>
              </a:defRPr>
            </a:pPr>
            <a:r>
              <a:rPr sz="1650" b="0">
                <a:solidFill>
                  <a:srgbClr val="132641"/>
                </a:solidFill>
                <a:latin typeface="Arial"/>
                <a:ea typeface="Arial"/>
                <a:cs typeface="Arial"/>
              </a:rPr>
              <a:t>In-memory job state</a:t>
            </a:r>
          </a:p>
        </p:txBody>
      </p:sp>
      <p:sp>
        <p:nvSpPr>
          <p:cNvPr id="42" name="remote-facade">
            <a:extLst xmlns:a="http://schemas.openxmlformats.org/drawingml/2006/main">
              <a:ext uri="{FF2B5EF4-FFF2-40B4-BE49-F238E27FC236}">
                <a16:creationId xmlns:a16="http://schemas.microsoft.com/office/drawing/2014/main" id="{3197AC18-76F9-4F23-BDEE-5D97F3BE4A7D}"/>
              </a:ext>
            </a:extLst>
          </p:cNvPr>
          <p:cNvSpPr>
            <a:spLocks xmlns:a="http://schemas.openxmlformats.org/drawingml/2006/main" noGrp="1"/>
          </p:cNvSpPr>
          <p:nvPr/>
        </p:nvSpPr>
        <p:spPr>
          <a:xfrm xmlns:a="http://schemas.openxmlformats.org/drawingml/2006/main">
            <a:off x="12096750" y="4438650"/>
            <a:ext cx="2724150" cy="542925"/>
          </a:xfrm>
          <a:prstGeom xmlns:a="http://schemas.openxmlformats.org/drawingml/2006/main" prst="roundRect">
            <a:avLst>
              <a:gd name="adj" fmla="val 12281"/>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650" b="1">
                <a:solidFill>
                  <a:srgbClr val="132641"/>
                </a:solidFill>
                <a:latin typeface="Arial"/>
                <a:ea typeface="Arial"/>
                <a:cs typeface="Arial"/>
              </a:defRPr>
            </a:defPPr>
            <a:lvl1pPr algn="ctr">
              <a:defRPr sz="1650" b="1">
                <a:solidFill>
                  <a:srgbClr val="132641"/>
                </a:solidFill>
                <a:latin typeface="Arial"/>
                <a:ea typeface="Arial"/>
                <a:cs typeface="Arial"/>
              </a:defRPr>
            </a:lvl1pPr>
            <a:lvl2pPr algn="ctr">
              <a:defRPr sz="1650" b="1">
                <a:solidFill>
                  <a:srgbClr val="132641"/>
                </a:solidFill>
                <a:latin typeface="Arial"/>
                <a:ea typeface="Arial"/>
                <a:cs typeface="Arial"/>
              </a:defRPr>
            </a:lvl2pPr>
            <a:lvl3pPr algn="ctr">
              <a:defRPr sz="1650" b="1">
                <a:solidFill>
                  <a:srgbClr val="132641"/>
                </a:solidFill>
                <a:latin typeface="Arial"/>
                <a:ea typeface="Arial"/>
                <a:cs typeface="Arial"/>
              </a:defRPr>
            </a:lvl3pPr>
            <a:lvl4pPr algn="ctr">
              <a:defRPr sz="1650" b="1">
                <a:solidFill>
                  <a:srgbClr val="132641"/>
                </a:solidFill>
                <a:latin typeface="Arial"/>
                <a:ea typeface="Arial"/>
                <a:cs typeface="Arial"/>
              </a:defRPr>
            </a:lvl4pPr>
            <a:lvl5pPr algn="ctr">
              <a:defRPr sz="1650" b="1">
                <a:solidFill>
                  <a:srgbClr val="132641"/>
                </a:solidFill>
                <a:latin typeface="Arial"/>
                <a:ea typeface="Arial"/>
                <a:cs typeface="Arial"/>
              </a:defRPr>
            </a:lvl5pPr>
            <a:lvl6pPr algn="ctr">
              <a:defRPr sz="1650" b="1">
                <a:solidFill>
                  <a:srgbClr val="132641"/>
                </a:solidFill>
                <a:latin typeface="Arial"/>
                <a:ea typeface="Arial"/>
                <a:cs typeface="Arial"/>
              </a:defRPr>
            </a:lvl6pPr>
            <a:lvl7pPr algn="ctr">
              <a:defRPr sz="1650" b="1">
                <a:solidFill>
                  <a:srgbClr val="132641"/>
                </a:solidFill>
                <a:latin typeface="Arial"/>
                <a:ea typeface="Arial"/>
                <a:cs typeface="Arial"/>
              </a:defRPr>
            </a:lvl7pPr>
            <a:lvl8pPr algn="ctr">
              <a:defRPr sz="1650" b="1">
                <a:solidFill>
                  <a:srgbClr val="132641"/>
                </a:solidFill>
                <a:latin typeface="Arial"/>
                <a:ea typeface="Arial"/>
                <a:cs typeface="Arial"/>
              </a:defRPr>
            </a:lvl8pPr>
            <a:lvl9pPr algn="ctr">
              <a:defRPr sz="1650" b="1">
                <a:solidFill>
                  <a:srgbClr val="132641"/>
                </a:solidFill>
                <a:latin typeface="Arial"/>
                <a:ea typeface="Arial"/>
                <a:cs typeface="Arial"/>
              </a:defRPr>
            </a:lvl9pPr>
          </a:lstStyle>
          <a:p xmlns:a="http://schemas.openxmlformats.org/drawingml/2006/main">
            <a:pPr algn="ctr">
              <a:defRPr sz="1650" b="1">
                <a:solidFill>
                  <a:srgbClr val="132641"/>
                </a:solidFill>
                <a:latin typeface="Arial"/>
                <a:ea typeface="Arial"/>
                <a:cs typeface="Arial"/>
              </a:defRPr>
            </a:pPr>
            <a:r>
              <a:rPr sz="1650" b="1">
                <a:solidFill>
                  <a:srgbClr val="132641"/>
                </a:solidFill>
                <a:latin typeface="Arial"/>
                <a:ea typeface="Arial"/>
                <a:cs typeface="Arial"/>
              </a:rPr>
              <a:t>TrainingFacade.run_local</a:t>
            </a:r>
          </a:p>
        </p:txBody>
      </p:sp>
      <p:sp>
        <p:nvSpPr>
          <p:cNvPr id="43" name="remote-training">
            <a:extLst xmlns:a="http://schemas.openxmlformats.org/drawingml/2006/main">
              <a:ext uri="{FF2B5EF4-FFF2-40B4-BE49-F238E27FC236}">
                <a16:creationId xmlns:a16="http://schemas.microsoft.com/office/drawing/2014/main" id="{7701A553-288A-45D5-92D1-0E21A12FDC5A}"/>
              </a:ext>
            </a:extLst>
          </p:cNvPr>
          <p:cNvSpPr>
            <a:spLocks xmlns:a="http://schemas.openxmlformats.org/drawingml/2006/main" noGrp="1"/>
          </p:cNvSpPr>
          <p:nvPr/>
        </p:nvSpPr>
        <p:spPr>
          <a:xfrm xmlns:a="http://schemas.openxmlformats.org/drawingml/2006/main">
            <a:off x="12096750" y="5381625"/>
            <a:ext cx="2724150" cy="685800"/>
          </a:xfrm>
          <a:prstGeom xmlns:a="http://schemas.openxmlformats.org/drawingml/2006/main" prst="roundRect">
            <a:avLst>
              <a:gd name="adj" fmla="val 9722"/>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650" b="0">
                <a:solidFill>
                  <a:srgbClr val="132641"/>
                </a:solidFill>
                <a:latin typeface="Arial"/>
                <a:ea typeface="Arial"/>
                <a:cs typeface="Arial"/>
              </a:defRPr>
            </a:defPPr>
            <a:lvl1pPr algn="ctr">
              <a:defRPr sz="1650" b="0">
                <a:solidFill>
                  <a:srgbClr val="132641"/>
                </a:solidFill>
                <a:latin typeface="Arial"/>
                <a:ea typeface="Arial"/>
                <a:cs typeface="Arial"/>
              </a:defRPr>
            </a:lvl1pPr>
            <a:lvl2pPr algn="ctr">
              <a:defRPr sz="1650" b="0">
                <a:solidFill>
                  <a:srgbClr val="132641"/>
                </a:solidFill>
                <a:latin typeface="Arial"/>
                <a:ea typeface="Arial"/>
                <a:cs typeface="Arial"/>
              </a:defRPr>
            </a:lvl2pPr>
            <a:lvl3pPr algn="ctr">
              <a:defRPr sz="1650" b="0">
                <a:solidFill>
                  <a:srgbClr val="132641"/>
                </a:solidFill>
                <a:latin typeface="Arial"/>
                <a:ea typeface="Arial"/>
                <a:cs typeface="Arial"/>
              </a:defRPr>
            </a:lvl3pPr>
            <a:lvl4pPr algn="ctr">
              <a:defRPr sz="1650" b="0">
                <a:solidFill>
                  <a:srgbClr val="132641"/>
                </a:solidFill>
                <a:latin typeface="Arial"/>
                <a:ea typeface="Arial"/>
                <a:cs typeface="Arial"/>
              </a:defRPr>
            </a:lvl4pPr>
            <a:lvl5pPr algn="ctr">
              <a:defRPr sz="1650" b="0">
                <a:solidFill>
                  <a:srgbClr val="132641"/>
                </a:solidFill>
                <a:latin typeface="Arial"/>
                <a:ea typeface="Arial"/>
                <a:cs typeface="Arial"/>
              </a:defRPr>
            </a:lvl5pPr>
            <a:lvl6pPr algn="ctr">
              <a:defRPr sz="1650" b="0">
                <a:solidFill>
                  <a:srgbClr val="132641"/>
                </a:solidFill>
                <a:latin typeface="Arial"/>
                <a:ea typeface="Arial"/>
                <a:cs typeface="Arial"/>
              </a:defRPr>
            </a:lvl6pPr>
            <a:lvl7pPr algn="ctr">
              <a:defRPr sz="1650" b="0">
                <a:solidFill>
                  <a:srgbClr val="132641"/>
                </a:solidFill>
                <a:latin typeface="Arial"/>
                <a:ea typeface="Arial"/>
                <a:cs typeface="Arial"/>
              </a:defRPr>
            </a:lvl7pPr>
            <a:lvl8pPr algn="ctr">
              <a:defRPr sz="1650" b="0">
                <a:solidFill>
                  <a:srgbClr val="132641"/>
                </a:solidFill>
                <a:latin typeface="Arial"/>
                <a:ea typeface="Arial"/>
                <a:cs typeface="Arial"/>
              </a:defRPr>
            </a:lvl8pPr>
            <a:lvl9pPr algn="ctr">
              <a:defRPr sz="1650" b="0">
                <a:solidFill>
                  <a:srgbClr val="132641"/>
                </a:solidFill>
                <a:latin typeface="Arial"/>
                <a:ea typeface="Arial"/>
                <a:cs typeface="Arial"/>
              </a:defRPr>
            </a:lvl9pPr>
          </a:lstStyle>
          <a:p xmlns:a="http://schemas.openxmlformats.org/drawingml/2006/main">
            <a:pPr algn="ctr">
              <a:defRPr sz="1650" b="0">
                <a:solidFill>
                  <a:srgbClr val="132641"/>
                </a:solidFill>
                <a:latin typeface="Arial"/>
                <a:ea typeface="Arial"/>
                <a:cs typeface="Arial"/>
              </a:defRPr>
            </a:pPr>
            <a:r>
              <a:rPr sz="1650" b="0">
                <a:solidFill>
                  <a:srgbClr val="132641"/>
                </a:solidFill>
                <a:latin typeface="Arial"/>
                <a:ea typeface="Arial"/>
                <a:cs typeface="Arial"/>
              </a:rPr>
              <a:t>training.train</a:t>
            </a:r>
          </a:p>
          <a:p xmlns:a="http://schemas.openxmlformats.org/drawingml/2006/main">
            <a:pPr algn="ctr">
              <a:defRPr sz="1650" b="0">
                <a:solidFill>
                  <a:srgbClr val="132641"/>
                </a:solidFill>
                <a:latin typeface="Arial"/>
                <a:ea typeface="Arial"/>
                <a:cs typeface="Arial"/>
              </a:defRPr>
            </a:pPr>
            <a:r>
              <a:rPr sz="1650" b="0">
                <a:solidFill>
                  <a:srgbClr val="132641"/>
                </a:solidFill>
                <a:latin typeface="Arial"/>
                <a:ea typeface="Arial"/>
                <a:cs typeface="Arial"/>
              </a:rPr>
              <a:t>Shared models/ code</a:t>
            </a:r>
          </a:p>
        </p:txBody>
      </p:sp>
      <p:sp>
        <p:nvSpPr>
          <p:cNvPr id="44" name="remote-files">
            <a:extLst xmlns:a="http://schemas.openxmlformats.org/drawingml/2006/main">
              <a:ext uri="{FF2B5EF4-FFF2-40B4-BE49-F238E27FC236}">
                <a16:creationId xmlns:a16="http://schemas.microsoft.com/office/drawing/2014/main" id="{CC166D58-31EA-4873-A8D4-315230ACB24C}"/>
              </a:ext>
            </a:extLst>
          </p:cNvPr>
          <p:cNvSpPr>
            <a:spLocks xmlns:a="http://schemas.openxmlformats.org/drawingml/2006/main" noGrp="1"/>
          </p:cNvSpPr>
          <p:nvPr/>
        </p:nvSpPr>
        <p:spPr>
          <a:xfrm xmlns:a="http://schemas.openxmlformats.org/drawingml/2006/main">
            <a:off x="12096750" y="6457950"/>
            <a:ext cx="2724150" cy="704850"/>
          </a:xfrm>
          <a:prstGeom xmlns:a="http://schemas.openxmlformats.org/drawingml/2006/main" prst="roundRect">
            <a:avLst>
              <a:gd name="adj" fmla="val 9459"/>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575" b="0">
                <a:solidFill>
                  <a:srgbClr val="132641"/>
                </a:solidFill>
                <a:latin typeface="Arial"/>
                <a:ea typeface="Arial"/>
                <a:cs typeface="Arial"/>
              </a:defRPr>
            </a:defPPr>
            <a:lvl1pPr algn="ctr">
              <a:defRPr sz="1575" b="0">
                <a:solidFill>
                  <a:srgbClr val="132641"/>
                </a:solidFill>
                <a:latin typeface="Arial"/>
                <a:ea typeface="Arial"/>
                <a:cs typeface="Arial"/>
              </a:defRPr>
            </a:lvl1pPr>
            <a:lvl2pPr algn="ctr">
              <a:defRPr sz="1575" b="0">
                <a:solidFill>
                  <a:srgbClr val="132641"/>
                </a:solidFill>
                <a:latin typeface="Arial"/>
                <a:ea typeface="Arial"/>
                <a:cs typeface="Arial"/>
              </a:defRPr>
            </a:lvl2pPr>
            <a:lvl3pPr algn="ctr">
              <a:defRPr sz="1575" b="0">
                <a:solidFill>
                  <a:srgbClr val="132641"/>
                </a:solidFill>
                <a:latin typeface="Arial"/>
                <a:ea typeface="Arial"/>
                <a:cs typeface="Arial"/>
              </a:defRPr>
            </a:lvl3pPr>
            <a:lvl4pPr algn="ctr">
              <a:defRPr sz="1575" b="0">
                <a:solidFill>
                  <a:srgbClr val="132641"/>
                </a:solidFill>
                <a:latin typeface="Arial"/>
                <a:ea typeface="Arial"/>
                <a:cs typeface="Arial"/>
              </a:defRPr>
            </a:lvl4pPr>
            <a:lvl5pPr algn="ctr">
              <a:defRPr sz="1575" b="0">
                <a:solidFill>
                  <a:srgbClr val="132641"/>
                </a:solidFill>
                <a:latin typeface="Arial"/>
                <a:ea typeface="Arial"/>
                <a:cs typeface="Arial"/>
              </a:defRPr>
            </a:lvl5pPr>
            <a:lvl6pPr algn="ctr">
              <a:defRPr sz="1575" b="0">
                <a:solidFill>
                  <a:srgbClr val="132641"/>
                </a:solidFill>
                <a:latin typeface="Arial"/>
                <a:ea typeface="Arial"/>
                <a:cs typeface="Arial"/>
              </a:defRPr>
            </a:lvl6pPr>
            <a:lvl7pPr algn="ctr">
              <a:defRPr sz="1575" b="0">
                <a:solidFill>
                  <a:srgbClr val="132641"/>
                </a:solidFill>
                <a:latin typeface="Arial"/>
                <a:ea typeface="Arial"/>
                <a:cs typeface="Arial"/>
              </a:defRPr>
            </a:lvl7pPr>
            <a:lvl8pPr algn="ctr">
              <a:defRPr sz="1575" b="0">
                <a:solidFill>
                  <a:srgbClr val="132641"/>
                </a:solidFill>
                <a:latin typeface="Arial"/>
                <a:ea typeface="Arial"/>
                <a:cs typeface="Arial"/>
              </a:defRPr>
            </a:lvl8pPr>
            <a:lvl9pPr algn="ctr">
              <a:defRPr sz="1575" b="0">
                <a:solidFill>
                  <a:srgbClr val="132641"/>
                </a:solidFill>
                <a:latin typeface="Arial"/>
                <a:ea typeface="Arial"/>
                <a:cs typeface="Arial"/>
              </a:defRPr>
            </a:lvl9pPr>
          </a:lstStyle>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Temporary job files</a:t>
            </a:r>
          </a:p>
          <a:p xmlns:a="http://schemas.openxmlformats.org/drawingml/2006/main">
            <a:pPr algn="ctr">
              <a:defRPr sz="1575" b="0">
                <a:solidFill>
                  <a:srgbClr val="132641"/>
                </a:solidFill>
                <a:latin typeface="Arial"/>
                <a:ea typeface="Arial"/>
                <a:cs typeface="Arial"/>
              </a:defRPr>
            </a:pPr>
            <a:r>
              <a:rPr sz="1575" b="0">
                <a:solidFill>
                  <a:srgbClr val="132641"/>
                </a:solidFill>
                <a:latin typeface="Arial"/>
                <a:ea typeface="Arial"/>
                <a:cs typeface="Arial"/>
              </a:rPr>
              <a:t>Uploaded data and artifacts</a:t>
            </a:r>
          </a:p>
        </p:txBody>
      </p:sp>
      <p:cxnSp>
        <p:nvCxnSpPr>
          <p:cNvPr id="45" name="">
            <a:extLst xmlns:a="http://schemas.openxmlformats.org/drawingml/2006/main">
              <a:ext uri="{FF2B5EF4-FFF2-40B4-BE49-F238E27FC236}">
                <a16:creationId xmlns:a16="http://schemas.microsoft.com/office/drawing/2014/main" id="{021F4AE9-DFA5-47B0-88D3-EA9BB9FFC3C5}"/>
              </a:ext>
            </a:extLst>
          </p:cNvPr>
          <p:cNvCxnSpPr>
            <a:stCxn xmlns:a="http://schemas.openxmlformats.org/drawingml/2006/main" id="39" idx="2"/>
            <a:endCxn xmlns:a="http://schemas.openxmlformats.org/drawingml/2006/main" id="40" idx="0"/>
          </p:cNvCxnSpPr>
          <p:nvPr/>
        </p:nvCxnSpPr>
        <p:spPr>
          <a:xfrm xmlns:a="http://schemas.openxmlformats.org/drawingml/2006/main">
            <a:off x="13458825" y="2019300"/>
            <a:ext cx="0" cy="381000"/>
          </a:xfrm>
          <a:prstGeom xmlns:a="http://schemas.openxmlformats.org/drawingml/2006/main" prst="straightConnector1">
            <a:avLst/>
          </a:prstGeom>
          <a:ln xmlns:a="http://schemas.openxmlformats.org/drawingml/2006/main" w="17145">
            <a:solidFill>
              <a:srgbClr val="132641"/>
            </a:solidFill>
            <a:tailEnd type="triangle" w="sm" len="sm"/>
          </a:ln>
        </p:spPr>
      </p:cxnSp>
      <p:cxnSp>
        <p:nvCxnSpPr>
          <p:cNvPr id="46" name="">
            <a:extLst xmlns:a="http://schemas.openxmlformats.org/drawingml/2006/main">
              <a:ext uri="{FF2B5EF4-FFF2-40B4-BE49-F238E27FC236}">
                <a16:creationId xmlns:a16="http://schemas.microsoft.com/office/drawing/2014/main" id="{19C0B4CA-E243-4E39-8E5F-21000CD61B08}"/>
              </a:ext>
            </a:extLst>
          </p:cNvPr>
          <p:cNvCxnSpPr>
            <a:stCxn xmlns:a="http://schemas.openxmlformats.org/drawingml/2006/main" id="40" idx="2"/>
            <a:endCxn xmlns:a="http://schemas.openxmlformats.org/drawingml/2006/main" id="41" idx="0"/>
          </p:cNvCxnSpPr>
          <p:nvPr/>
        </p:nvCxnSpPr>
        <p:spPr>
          <a:xfrm xmlns:a="http://schemas.openxmlformats.org/drawingml/2006/main">
            <a:off x="13458825" y="2943225"/>
            <a:ext cx="0" cy="390525"/>
          </a:xfrm>
          <a:prstGeom xmlns:a="http://schemas.openxmlformats.org/drawingml/2006/main" prst="straightConnector1">
            <a:avLst/>
          </a:prstGeom>
          <a:ln xmlns:a="http://schemas.openxmlformats.org/drawingml/2006/main" w="17145">
            <a:solidFill>
              <a:srgbClr val="132641"/>
            </a:solidFill>
            <a:tailEnd type="triangle" w="sm" len="sm"/>
          </a:ln>
        </p:spPr>
      </p:cxnSp>
      <p:cxnSp>
        <p:nvCxnSpPr>
          <p:cNvPr id="47" name="">
            <a:extLst xmlns:a="http://schemas.openxmlformats.org/drawingml/2006/main">
              <a:ext uri="{FF2B5EF4-FFF2-40B4-BE49-F238E27FC236}">
                <a16:creationId xmlns:a16="http://schemas.microsoft.com/office/drawing/2014/main" id="{2F9B2C50-DD7A-4F24-A5EC-EF75CF41AD63}"/>
              </a:ext>
            </a:extLst>
          </p:cNvPr>
          <p:cNvCxnSpPr>
            <a:stCxn xmlns:a="http://schemas.openxmlformats.org/drawingml/2006/main" id="41" idx="2"/>
            <a:endCxn xmlns:a="http://schemas.openxmlformats.org/drawingml/2006/main" id="42" idx="0"/>
          </p:cNvCxnSpPr>
          <p:nvPr/>
        </p:nvCxnSpPr>
        <p:spPr>
          <a:xfrm xmlns:a="http://schemas.openxmlformats.org/drawingml/2006/main">
            <a:off x="13458825" y="4038600"/>
            <a:ext cx="0" cy="400050"/>
          </a:xfrm>
          <a:prstGeom xmlns:a="http://schemas.openxmlformats.org/drawingml/2006/main" prst="straightConnector1">
            <a:avLst/>
          </a:prstGeom>
          <a:ln xmlns:a="http://schemas.openxmlformats.org/drawingml/2006/main" w="17145">
            <a:solidFill>
              <a:srgbClr val="132641"/>
            </a:solidFill>
            <a:tailEnd type="triangle" w="sm" len="sm"/>
          </a:ln>
        </p:spPr>
      </p:cxnSp>
      <p:cxnSp>
        <p:nvCxnSpPr>
          <p:cNvPr id="48" name="">
            <a:extLst xmlns:a="http://schemas.openxmlformats.org/drawingml/2006/main">
              <a:ext uri="{FF2B5EF4-FFF2-40B4-BE49-F238E27FC236}">
                <a16:creationId xmlns:a16="http://schemas.microsoft.com/office/drawing/2014/main" id="{45C572A4-6407-4466-A201-ECA04074BC40}"/>
              </a:ext>
            </a:extLst>
          </p:cNvPr>
          <p:cNvCxnSpPr>
            <a:stCxn xmlns:a="http://schemas.openxmlformats.org/drawingml/2006/main" id="42" idx="2"/>
            <a:endCxn xmlns:a="http://schemas.openxmlformats.org/drawingml/2006/main" id="43" idx="0"/>
          </p:cNvCxnSpPr>
          <p:nvPr/>
        </p:nvCxnSpPr>
        <p:spPr>
          <a:xfrm xmlns:a="http://schemas.openxmlformats.org/drawingml/2006/main">
            <a:off x="13458825" y="4981575"/>
            <a:ext cx="0" cy="400050"/>
          </a:xfrm>
          <a:prstGeom xmlns:a="http://schemas.openxmlformats.org/drawingml/2006/main" prst="straightConnector1">
            <a:avLst/>
          </a:prstGeom>
          <a:ln xmlns:a="http://schemas.openxmlformats.org/drawingml/2006/main" w="17145">
            <a:solidFill>
              <a:srgbClr val="132641"/>
            </a:solidFill>
            <a:tailEnd type="triangle" w="sm" len="sm"/>
          </a:ln>
        </p:spPr>
      </p:cxnSp>
      <p:cxnSp>
        <p:nvCxnSpPr>
          <p:cNvPr id="49" name="">
            <a:extLst xmlns:a="http://schemas.openxmlformats.org/drawingml/2006/main">
              <a:ext uri="{FF2B5EF4-FFF2-40B4-BE49-F238E27FC236}">
                <a16:creationId xmlns:a16="http://schemas.microsoft.com/office/drawing/2014/main" id="{697301CA-FF16-4B57-BED1-BAF5EFDB1CD8}"/>
              </a:ext>
            </a:extLst>
          </p:cNvPr>
          <p:cNvCxnSpPr>
            <a:stCxn xmlns:a="http://schemas.openxmlformats.org/drawingml/2006/main" id="43" idx="2"/>
            <a:endCxn xmlns:a="http://schemas.openxmlformats.org/drawingml/2006/main" id="44" idx="0"/>
          </p:cNvCxnSpPr>
          <p:nvPr/>
        </p:nvCxnSpPr>
        <p:spPr>
          <a:xfrm xmlns:a="http://schemas.openxmlformats.org/drawingml/2006/main">
            <a:off x="13458825" y="6067425"/>
            <a:ext cx="0" cy="390525"/>
          </a:xfrm>
          <a:prstGeom xmlns:a="http://schemas.openxmlformats.org/drawingml/2006/main" prst="straightConnector1">
            <a:avLst/>
          </a:prstGeom>
          <a:ln xmlns:a="http://schemas.openxmlformats.org/drawingml/2006/main" w="17145">
            <a:solidFill>
              <a:srgbClr val="132641"/>
            </a:solidFill>
            <a:tailEnd type="triangle" w="sm" len="sm"/>
          </a:ln>
        </p:spPr>
      </p:cxnSp>
      <p:sp>
        <p:nvSpPr>
          <p:cNvPr id="50" name="api-capabilities">
            <a:extLst xmlns:a="http://schemas.openxmlformats.org/drawingml/2006/main">
              <a:ext uri="{FF2B5EF4-FFF2-40B4-BE49-F238E27FC236}">
                <a16:creationId xmlns:a16="http://schemas.microsoft.com/office/drawing/2014/main" id="{C7EE8DBD-C285-4A6A-B428-A7924BD83804}"/>
              </a:ext>
            </a:extLst>
          </p:cNvPr>
          <p:cNvSpPr>
            <a:spLocks xmlns:a="http://schemas.openxmlformats.org/drawingml/2006/main" noGrp="1"/>
          </p:cNvSpPr>
          <p:nvPr/>
        </p:nvSpPr>
        <p:spPr>
          <a:xfrm xmlns:a="http://schemas.openxmlformats.org/drawingml/2006/main">
            <a:off x="12096750" y="7496175"/>
            <a:ext cx="2724150" cy="561975"/>
          </a:xfrm>
          <a:prstGeom xmlns:a="http://schemas.openxmlformats.org/drawingml/2006/main" prst="roundRect">
            <a:avLst>
              <a:gd name="adj" fmla="val 11864"/>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500" b="0">
                <a:solidFill>
                  <a:srgbClr val="132641"/>
                </a:solidFill>
                <a:latin typeface="Arial"/>
                <a:ea typeface="Arial"/>
                <a:cs typeface="Arial"/>
              </a:defRPr>
            </a:defPPr>
            <a:lvl1pPr algn="ctr">
              <a:defRPr sz="1500" b="0">
                <a:solidFill>
                  <a:srgbClr val="132641"/>
                </a:solidFill>
                <a:latin typeface="Arial"/>
                <a:ea typeface="Arial"/>
                <a:cs typeface="Arial"/>
              </a:defRPr>
            </a:lvl1pPr>
            <a:lvl2pPr algn="ctr">
              <a:defRPr sz="1500" b="0">
                <a:solidFill>
                  <a:srgbClr val="132641"/>
                </a:solidFill>
                <a:latin typeface="Arial"/>
                <a:ea typeface="Arial"/>
                <a:cs typeface="Arial"/>
              </a:defRPr>
            </a:lvl2pPr>
            <a:lvl3pPr algn="ctr">
              <a:defRPr sz="1500" b="0">
                <a:solidFill>
                  <a:srgbClr val="132641"/>
                </a:solidFill>
                <a:latin typeface="Arial"/>
                <a:ea typeface="Arial"/>
                <a:cs typeface="Arial"/>
              </a:defRPr>
            </a:lvl3pPr>
            <a:lvl4pPr algn="ctr">
              <a:defRPr sz="1500" b="0">
                <a:solidFill>
                  <a:srgbClr val="132641"/>
                </a:solidFill>
                <a:latin typeface="Arial"/>
                <a:ea typeface="Arial"/>
                <a:cs typeface="Arial"/>
              </a:defRPr>
            </a:lvl4pPr>
            <a:lvl5pPr algn="ctr">
              <a:defRPr sz="1500" b="0">
                <a:solidFill>
                  <a:srgbClr val="132641"/>
                </a:solidFill>
                <a:latin typeface="Arial"/>
                <a:ea typeface="Arial"/>
                <a:cs typeface="Arial"/>
              </a:defRPr>
            </a:lvl5pPr>
            <a:lvl6pPr algn="ctr">
              <a:defRPr sz="1500" b="0">
                <a:solidFill>
                  <a:srgbClr val="132641"/>
                </a:solidFill>
                <a:latin typeface="Arial"/>
                <a:ea typeface="Arial"/>
                <a:cs typeface="Arial"/>
              </a:defRPr>
            </a:lvl6pPr>
            <a:lvl7pPr algn="ctr">
              <a:defRPr sz="1500" b="0">
                <a:solidFill>
                  <a:srgbClr val="132641"/>
                </a:solidFill>
                <a:latin typeface="Arial"/>
                <a:ea typeface="Arial"/>
                <a:cs typeface="Arial"/>
              </a:defRPr>
            </a:lvl7pPr>
            <a:lvl8pPr algn="ctr">
              <a:defRPr sz="1500" b="0">
                <a:solidFill>
                  <a:srgbClr val="132641"/>
                </a:solidFill>
                <a:latin typeface="Arial"/>
                <a:ea typeface="Arial"/>
                <a:cs typeface="Arial"/>
              </a:defRPr>
            </a:lvl8pPr>
            <a:lvl9pPr algn="ctr">
              <a:defRPr sz="1500" b="0">
                <a:solidFill>
                  <a:srgbClr val="132641"/>
                </a:solidFill>
                <a:latin typeface="Arial"/>
                <a:ea typeface="Arial"/>
                <a:cs typeface="Arial"/>
              </a:defRPr>
            </a:lvl9pPr>
          </a:lstStyle>
          <a:p xmlns:a="http://schemas.openxmlformats.org/drawingml/2006/main">
            <a:pPr algn="ctr">
              <a:defRPr sz="1500" b="0">
                <a:solidFill>
                  <a:srgbClr val="132641"/>
                </a:solidFill>
                <a:latin typeface="Arial"/>
                <a:ea typeface="Arial"/>
                <a:cs typeface="Arial"/>
              </a:defRPr>
            </a:pPr>
            <a:r>
              <a:rPr sz="1500" b="0">
                <a:solidFill>
                  <a:srgbClr val="132641"/>
                </a:solidFill>
                <a:latin typeface="Arial"/>
                <a:ea typeface="Arial"/>
                <a:cs typeface="Arial"/>
              </a:rPr>
              <a:t>Status, logs</a:t>
            </a:r>
          </a:p>
          <a:p xmlns:a="http://schemas.openxmlformats.org/drawingml/2006/main">
            <a:pPr algn="ctr">
              <a:defRPr sz="1500" b="0">
                <a:solidFill>
                  <a:srgbClr val="132641"/>
                </a:solidFill>
                <a:latin typeface="Arial"/>
                <a:ea typeface="Arial"/>
                <a:cs typeface="Arial"/>
              </a:defRPr>
            </a:pPr>
            <a:r>
              <a:rPr sz="1500" b="0">
                <a:solidFill>
                  <a:srgbClr val="132641"/>
                </a:solidFill>
                <a:latin typeface="Arial"/>
                <a:ea typeface="Arial"/>
                <a:cs typeface="Arial"/>
              </a:rPr>
              <a:t>Artifact list and downloads</a:t>
            </a:r>
          </a:p>
        </p:txBody>
      </p:sp>
      <p:sp>
        <p:nvSpPr>
          <p:cNvPr id="51" name="remote-client">
            <a:extLst xmlns:a="http://schemas.openxmlformats.org/drawingml/2006/main">
              <a:ext uri="{FF2B5EF4-FFF2-40B4-BE49-F238E27FC236}">
                <a16:creationId xmlns:a16="http://schemas.microsoft.com/office/drawing/2014/main" id="{ACBBD9E6-9830-4A71-AEAA-7D601CD9C205}"/>
              </a:ext>
            </a:extLst>
          </p:cNvPr>
          <p:cNvSpPr>
            <a:spLocks xmlns:a="http://schemas.openxmlformats.org/drawingml/2006/main" noGrp="1"/>
          </p:cNvSpPr>
          <p:nvPr/>
        </p:nvSpPr>
        <p:spPr>
          <a:xfrm xmlns:a="http://schemas.openxmlformats.org/drawingml/2006/main">
            <a:off x="8963025" y="7077075"/>
            <a:ext cx="2047875" cy="714375"/>
          </a:xfrm>
          <a:prstGeom xmlns:a="http://schemas.openxmlformats.org/drawingml/2006/main" prst="roundRect">
            <a:avLst>
              <a:gd name="adj" fmla="val 9333"/>
            </a:avLst>
          </a:prstGeom>
          <a:solidFill xmlns:a="http://schemas.openxmlformats.org/drawingml/2006/main">
            <a:srgbClr val="F3E4FA"/>
          </a:solidFill>
          <a:ln xmlns:a="http://schemas.openxmlformats.org/drawingml/2006/main" w="13335">
            <a:solidFill>
              <a:srgbClr val="A875BE"/>
            </a:solidFill>
          </a:ln>
        </p:spPr>
        <p:txBody>
          <a:bodyPr xmlns:a="http://schemas.openxmlformats.org/drawingml/2006/main" wrap="none" lIns="66675" tIns="66675" rIns="66675" bIns="66675" anchor="ctr">
            <a:noAutofit/>
          </a:bodyPr>
          <a:lstStyle xmlns:a="http://schemas.openxmlformats.org/drawingml/2006/main">
            <a:defPPr algn="ctr">
              <a:defRPr sz="1500" b="1">
                <a:solidFill>
                  <a:srgbClr val="132641"/>
                </a:solidFill>
                <a:latin typeface="Arial"/>
                <a:ea typeface="Arial"/>
                <a:cs typeface="Arial"/>
              </a:defRPr>
            </a:defPPr>
            <a:lvl1pPr algn="ctr">
              <a:defRPr sz="1500" b="1">
                <a:solidFill>
                  <a:srgbClr val="132641"/>
                </a:solidFill>
                <a:latin typeface="Arial"/>
                <a:ea typeface="Arial"/>
                <a:cs typeface="Arial"/>
              </a:defRPr>
            </a:lvl1pPr>
            <a:lvl2pPr algn="ctr">
              <a:defRPr sz="1500" b="1">
                <a:solidFill>
                  <a:srgbClr val="132641"/>
                </a:solidFill>
                <a:latin typeface="Arial"/>
                <a:ea typeface="Arial"/>
                <a:cs typeface="Arial"/>
              </a:defRPr>
            </a:lvl2pPr>
            <a:lvl3pPr algn="ctr">
              <a:defRPr sz="1500" b="1">
                <a:solidFill>
                  <a:srgbClr val="132641"/>
                </a:solidFill>
                <a:latin typeface="Arial"/>
                <a:ea typeface="Arial"/>
                <a:cs typeface="Arial"/>
              </a:defRPr>
            </a:lvl3pPr>
            <a:lvl4pPr algn="ctr">
              <a:defRPr sz="1500" b="1">
                <a:solidFill>
                  <a:srgbClr val="132641"/>
                </a:solidFill>
                <a:latin typeface="Arial"/>
                <a:ea typeface="Arial"/>
                <a:cs typeface="Arial"/>
              </a:defRPr>
            </a:lvl4pPr>
            <a:lvl5pPr algn="ctr">
              <a:defRPr sz="1500" b="1">
                <a:solidFill>
                  <a:srgbClr val="132641"/>
                </a:solidFill>
                <a:latin typeface="Arial"/>
                <a:ea typeface="Arial"/>
                <a:cs typeface="Arial"/>
              </a:defRPr>
            </a:lvl5pPr>
            <a:lvl6pPr algn="ctr">
              <a:defRPr sz="1500" b="1">
                <a:solidFill>
                  <a:srgbClr val="132641"/>
                </a:solidFill>
                <a:latin typeface="Arial"/>
                <a:ea typeface="Arial"/>
                <a:cs typeface="Arial"/>
              </a:defRPr>
            </a:lvl6pPr>
            <a:lvl7pPr algn="ctr">
              <a:defRPr sz="1500" b="1">
                <a:solidFill>
                  <a:srgbClr val="132641"/>
                </a:solidFill>
                <a:latin typeface="Arial"/>
                <a:ea typeface="Arial"/>
                <a:cs typeface="Arial"/>
              </a:defRPr>
            </a:lvl7pPr>
            <a:lvl8pPr algn="ctr">
              <a:defRPr sz="1500" b="1">
                <a:solidFill>
                  <a:srgbClr val="132641"/>
                </a:solidFill>
                <a:latin typeface="Arial"/>
                <a:ea typeface="Arial"/>
                <a:cs typeface="Arial"/>
              </a:defRPr>
            </a:lvl8pPr>
            <a:lvl9pPr algn="ctr">
              <a:defRPr sz="1500" b="1">
                <a:solidFill>
                  <a:srgbClr val="132641"/>
                </a:solidFill>
                <a:latin typeface="Arial"/>
                <a:ea typeface="Arial"/>
                <a:cs typeface="Arial"/>
              </a:defRPr>
            </a:lvl9pPr>
          </a:lstStyle>
          <a:p xmlns:a="http://schemas.openxmlformats.org/drawingml/2006/main">
            <a:pPr algn="ctr">
              <a:defRPr sz="1500" b="1">
                <a:solidFill>
                  <a:srgbClr val="132641"/>
                </a:solidFill>
                <a:latin typeface="Arial"/>
                <a:ea typeface="Arial"/>
                <a:cs typeface="Arial"/>
              </a:defRPr>
            </a:pPr>
            <a:r>
              <a:rPr sz="1500" b="1">
                <a:solidFill>
                  <a:srgbClr val="132641"/>
                </a:solidFill>
                <a:latin typeface="Arial"/>
                <a:ea typeface="Arial"/>
                <a:cs typeface="Arial"/>
              </a:rPr>
              <a:t>run_remote</a:t>
            </a:r>
          </a:p>
          <a:p xmlns:a="http://schemas.openxmlformats.org/drawingml/2006/main">
            <a:pPr algn="ctr">
              <a:defRPr sz="1500" b="1">
                <a:solidFill>
                  <a:srgbClr val="132641"/>
                </a:solidFill>
                <a:latin typeface="Arial"/>
                <a:ea typeface="Arial"/>
                <a:cs typeface="Arial"/>
              </a:defRPr>
            </a:pPr>
            <a:r>
              <a:rPr sz="1500" b="1">
                <a:solidFill>
                  <a:srgbClr val="132641"/>
                </a:solidFill>
                <a:latin typeface="Arial"/>
                <a:ea typeface="Arial"/>
                <a:cs typeface="Arial"/>
              </a:rPr>
              <a:t>remote_client.py</a:t>
            </a:r>
          </a:p>
        </p:txBody>
      </p:sp>
      <p:cxnSp>
        <p:nvCxnSpPr>
          <p:cNvPr id="52" name="">
            <a:extLst xmlns:a="http://schemas.openxmlformats.org/drawingml/2006/main">
              <a:ext uri="{FF2B5EF4-FFF2-40B4-BE49-F238E27FC236}">
                <a16:creationId xmlns:a16="http://schemas.microsoft.com/office/drawing/2014/main" id="{0FFAFC64-F7C9-40A5-B10C-994016DC5F1F}"/>
              </a:ext>
            </a:extLst>
          </p:cNvPr>
          <p:cNvCxnSpPr>
            <a:stCxn xmlns:a="http://schemas.openxmlformats.org/drawingml/2006/main" id="31" idx="3"/>
            <a:endCxn xmlns:a="http://schemas.openxmlformats.org/drawingml/2006/main" id="51" idx="3"/>
          </p:cNvCxnSpPr>
          <p:nvPr/>
        </p:nvCxnSpPr>
        <p:spPr>
          <a:xfrm xmlns:a="http://schemas.openxmlformats.org/drawingml/2006/main">
            <a:off x="10915650" y="5014913"/>
            <a:ext cx="95250" cy="2419350"/>
          </a:xfrm>
          <a:prstGeom xmlns:a="http://schemas.openxmlformats.org/drawingml/2006/main" prst="bentConnector3">
            <a:avLst>
              <a:gd name="adj1" fmla="val 50000"/>
            </a:avLst>
          </a:prstGeom>
          <a:ln xmlns:a="http://schemas.openxmlformats.org/drawingml/2006/main" w="17145">
            <a:solidFill>
              <a:srgbClr val="A875BE"/>
            </a:solidFill>
            <a:tailEnd type="triangle" w="sm" len="sm"/>
          </a:ln>
        </p:spPr>
      </p:cxnSp>
      <p:cxnSp>
        <p:nvCxnSpPr>
          <p:cNvPr id="53" name="">
            <a:extLst xmlns:a="http://schemas.openxmlformats.org/drawingml/2006/main">
              <a:ext uri="{FF2B5EF4-FFF2-40B4-BE49-F238E27FC236}">
                <a16:creationId xmlns:a16="http://schemas.microsoft.com/office/drawing/2014/main" id="{EB99FBD7-C076-4D46-A453-CF229BB7FC4F}"/>
              </a:ext>
            </a:extLst>
          </p:cNvPr>
          <p:cNvCxnSpPr>
            <a:stCxn xmlns:a="http://schemas.openxmlformats.org/drawingml/2006/main" id="51" idx="3"/>
            <a:endCxn xmlns:a="http://schemas.openxmlformats.org/drawingml/2006/main" id="40" idx="1"/>
          </p:cNvCxnSpPr>
          <p:nvPr/>
        </p:nvCxnSpPr>
        <p:spPr>
          <a:xfrm xmlns:a="http://schemas.openxmlformats.org/drawingml/2006/main" flipV="1">
            <a:off x="11010900" y="2671763"/>
            <a:ext cx="1085850" cy="4762500"/>
          </a:xfrm>
          <a:prstGeom xmlns:a="http://schemas.openxmlformats.org/drawingml/2006/main" prst="bentConnector3">
            <a:avLst>
              <a:gd name="adj1" fmla="val 50000"/>
            </a:avLst>
          </a:prstGeom>
          <a:ln xmlns:a="http://schemas.openxmlformats.org/drawingml/2006/main" w="17145">
            <a:solidFill>
              <a:srgbClr val="A875BE"/>
            </a:solidFill>
            <a:tailEnd type="triangle" w="sm" len="sm"/>
          </a:ln>
        </p:spPr>
      </p:cxnSp>
      <p:sp>
        <p:nvSpPr>
          <p:cNvPr id="54" name="http-label">
            <a:extLst xmlns:a="http://schemas.openxmlformats.org/drawingml/2006/main">
              <a:ext uri="{FF2B5EF4-FFF2-40B4-BE49-F238E27FC236}">
                <a16:creationId xmlns:a16="http://schemas.microsoft.com/office/drawing/2014/main" id="{4D531C7B-F627-48B0-B460-94FA2FE6F604}"/>
              </a:ext>
            </a:extLst>
          </p:cNvPr>
          <p:cNvSpPr>
            <a:spLocks xmlns:a="http://schemas.openxmlformats.org/drawingml/2006/main" noGrp="1"/>
          </p:cNvSpPr>
          <p:nvPr/>
        </p:nvSpPr>
        <p:spPr>
          <a:xfrm xmlns:a="http://schemas.openxmlformats.org/drawingml/2006/main">
            <a:off x="11325225" y="2571750"/>
            <a:ext cx="571500" cy="247650"/>
          </a:xfrm>
          <a:prstGeom xmlns:a="http://schemas.openxmlformats.org/drawingml/2006/main" prst="roundRect">
            <a:avLst>
              <a:gd name="adj" fmla="val 26923"/>
            </a:avLst>
          </a:prstGeom>
          <a:noFill xmlns:a="http://schemas.openxmlformats.org/drawingml/2006/main"/>
          <a:ln xmlns:a="http://schemas.openxmlformats.org/drawingml/2006/main" w="0">
            <a:noFill/>
          </a:ln>
        </p:spPr>
        <p:txBody>
          <a:bodyPr xmlns:a="http://schemas.openxmlformats.org/drawingml/2006/main" wrap="none" lIns="19050" tIns="19050" rIns="19050" bIns="19050" anchor="ctr">
            <a:noAutofit/>
          </a:bodyPr>
          <a:lstStyle xmlns:a="http://schemas.openxmlformats.org/drawingml/2006/main">
            <a:defPPr algn="ctr">
              <a:defRPr sz="1275" b="1">
                <a:solidFill>
                  <a:srgbClr val="132641"/>
                </a:solidFill>
                <a:latin typeface="Arial"/>
                <a:ea typeface="Arial"/>
                <a:cs typeface="Arial"/>
              </a:defRPr>
            </a:defPPr>
            <a:lvl1pPr algn="ctr">
              <a:defRPr sz="1275" b="1">
                <a:solidFill>
                  <a:srgbClr val="132641"/>
                </a:solidFill>
                <a:latin typeface="Arial"/>
                <a:ea typeface="Arial"/>
                <a:cs typeface="Arial"/>
              </a:defRPr>
            </a:lvl1pPr>
            <a:lvl2pPr algn="ctr">
              <a:defRPr sz="1275" b="1">
                <a:solidFill>
                  <a:srgbClr val="132641"/>
                </a:solidFill>
                <a:latin typeface="Arial"/>
                <a:ea typeface="Arial"/>
                <a:cs typeface="Arial"/>
              </a:defRPr>
            </a:lvl2pPr>
            <a:lvl3pPr algn="ctr">
              <a:defRPr sz="1275" b="1">
                <a:solidFill>
                  <a:srgbClr val="132641"/>
                </a:solidFill>
                <a:latin typeface="Arial"/>
                <a:ea typeface="Arial"/>
                <a:cs typeface="Arial"/>
              </a:defRPr>
            </a:lvl3pPr>
            <a:lvl4pPr algn="ctr">
              <a:defRPr sz="1275" b="1">
                <a:solidFill>
                  <a:srgbClr val="132641"/>
                </a:solidFill>
                <a:latin typeface="Arial"/>
                <a:ea typeface="Arial"/>
                <a:cs typeface="Arial"/>
              </a:defRPr>
            </a:lvl4pPr>
            <a:lvl5pPr algn="ctr">
              <a:defRPr sz="1275" b="1">
                <a:solidFill>
                  <a:srgbClr val="132641"/>
                </a:solidFill>
                <a:latin typeface="Arial"/>
                <a:ea typeface="Arial"/>
                <a:cs typeface="Arial"/>
              </a:defRPr>
            </a:lvl5pPr>
            <a:lvl6pPr algn="ctr">
              <a:defRPr sz="1275" b="1">
                <a:solidFill>
                  <a:srgbClr val="132641"/>
                </a:solidFill>
                <a:latin typeface="Arial"/>
                <a:ea typeface="Arial"/>
                <a:cs typeface="Arial"/>
              </a:defRPr>
            </a:lvl6pPr>
            <a:lvl7pPr algn="ctr">
              <a:defRPr sz="1275" b="1">
                <a:solidFill>
                  <a:srgbClr val="132641"/>
                </a:solidFill>
                <a:latin typeface="Arial"/>
                <a:ea typeface="Arial"/>
                <a:cs typeface="Arial"/>
              </a:defRPr>
            </a:lvl7pPr>
            <a:lvl8pPr algn="ctr">
              <a:defRPr sz="1275" b="1">
                <a:solidFill>
                  <a:srgbClr val="132641"/>
                </a:solidFill>
                <a:latin typeface="Arial"/>
                <a:ea typeface="Arial"/>
                <a:cs typeface="Arial"/>
              </a:defRPr>
            </a:lvl8pPr>
            <a:lvl9pPr algn="ctr">
              <a:defRPr sz="1275" b="1">
                <a:solidFill>
                  <a:srgbClr val="132641"/>
                </a:solidFill>
                <a:latin typeface="Arial"/>
                <a:ea typeface="Arial"/>
                <a:cs typeface="Arial"/>
              </a:defRPr>
            </a:lvl9pPr>
          </a:lstStyle>
          <a:p xmlns:a="http://schemas.openxmlformats.org/drawingml/2006/main">
            <a:pPr algn="ctr">
              <a:defRPr sz="1275" b="1">
                <a:solidFill>
                  <a:srgbClr val="132641"/>
                </a:solidFill>
                <a:latin typeface="Arial"/>
                <a:ea typeface="Arial"/>
                <a:cs typeface="Arial"/>
              </a:defRPr>
            </a:pPr>
            <a:r>
              <a:rPr sz="1275" b="1">
                <a:solidFill>
                  <a:srgbClr val="132641"/>
                </a:solidFill>
                <a:latin typeface="Arial"/>
                <a:ea typeface="Arial"/>
                <a:cs typeface="Arial"/>
              </a:rPr>
              <a:t>HTTP</a:t>
            </a:r>
          </a:p>
        </p:txBody>
      </p:sp>
    </p:spTree>
    <p:extLst>
      <p:ext uri="{BB962C8B-B14F-4D97-AF65-F5344CB8AC3E}">
        <p14:creationId xmlns:p14="http://schemas.microsoft.com/office/powerpoint/2010/main" val="19075157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2026-10-17T09:42:12.9400000Z</dcterms:created>
  <dcterms:modified xsi:type="dcterms:W3CDTF">2026-10-17T09:42:12.9400000Z</dcterms:modified>
</coreProperties>
</file>